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DM Sans" pitchFamily="2" charset="0"/>
      <p:regular r:id="rId22"/>
    </p:embeddedFont>
    <p:embeddedFont>
      <p:font typeface="DM San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sp>
        <p:nvSpPr>
          <p:cNvPr id="2" name="Freeform 2"/>
          <p:cNvSpPr/>
          <p:nvPr/>
        </p:nvSpPr>
        <p:spPr>
          <a:xfrm>
            <a:off x="8319300" y="0"/>
            <a:ext cx="9968700" cy="10287000"/>
          </a:xfrm>
          <a:custGeom>
            <a:avLst/>
            <a:gdLst/>
            <a:ahLst/>
            <a:cxnLst/>
            <a:rect l="l" t="t" r="r" b="b"/>
            <a:pathLst>
              <a:path w="9968700" h="10287000">
                <a:moveTo>
                  <a:pt x="0" y="0"/>
                </a:moveTo>
                <a:lnTo>
                  <a:pt x="9968700" y="0"/>
                </a:lnTo>
                <a:lnTo>
                  <a:pt x="9968700" y="10287000"/>
                </a:lnTo>
                <a:lnTo>
                  <a:pt x="0" y="10287000"/>
                </a:lnTo>
                <a:lnTo>
                  <a:pt x="0" y="0"/>
                </a:lnTo>
                <a:close/>
              </a:path>
            </a:pathLst>
          </a:custGeom>
          <a:blipFill>
            <a:blip r:embed="rId2"/>
            <a:stretch>
              <a:fillRect t="-22613" b="-22613"/>
            </a:stretch>
          </a:blipFill>
        </p:spPr>
      </p:sp>
      <p:sp>
        <p:nvSpPr>
          <p:cNvPr id="3" name="TextBox 3"/>
          <p:cNvSpPr txBox="1"/>
          <p:nvPr/>
        </p:nvSpPr>
        <p:spPr>
          <a:xfrm>
            <a:off x="-1779616" y="3011799"/>
            <a:ext cx="10605313" cy="3553785"/>
          </a:xfrm>
          <a:prstGeom prst="rect">
            <a:avLst/>
          </a:prstGeom>
        </p:spPr>
        <p:txBody>
          <a:bodyPr lIns="0" tIns="0" rIns="0" bIns="0" rtlCol="0" anchor="t">
            <a:spAutoFit/>
          </a:bodyPr>
          <a:lstStyle/>
          <a:p>
            <a:pPr marL="0" lvl="0" indent="0" algn="ctr">
              <a:lnSpc>
                <a:spcPts val="13737"/>
              </a:lnSpc>
            </a:pPr>
            <a:r>
              <a:rPr lang="en-US" sz="13737" spc="-412">
                <a:solidFill>
                  <a:srgbClr val="F1F5EE"/>
                </a:solidFill>
                <a:latin typeface="DM Sans"/>
                <a:ea typeface="DM Sans"/>
                <a:cs typeface="DM Sans"/>
                <a:sym typeface="DM Sans"/>
              </a:rPr>
              <a:t>Yummy Foods</a:t>
            </a:r>
          </a:p>
        </p:txBody>
      </p:sp>
      <p:sp>
        <p:nvSpPr>
          <p:cNvPr id="4" name="TextBox 4"/>
          <p:cNvSpPr txBox="1"/>
          <p:nvPr/>
        </p:nvSpPr>
        <p:spPr>
          <a:xfrm>
            <a:off x="0" y="533400"/>
            <a:ext cx="7841491" cy="523875"/>
          </a:xfrm>
          <a:prstGeom prst="rect">
            <a:avLst/>
          </a:prstGeom>
        </p:spPr>
        <p:txBody>
          <a:bodyPr lIns="0" tIns="0" rIns="0" bIns="0" rtlCol="0" anchor="t">
            <a:spAutoFit/>
          </a:bodyPr>
          <a:lstStyle/>
          <a:p>
            <a:pPr marL="0" lvl="0" indent="0" algn="ctr">
              <a:lnSpc>
                <a:spcPts val="4144"/>
              </a:lnSpc>
            </a:pPr>
            <a:r>
              <a:rPr lang="en-US" sz="3453">
                <a:solidFill>
                  <a:srgbClr val="F1F5EE"/>
                </a:solidFill>
                <a:latin typeface="DM Sans"/>
                <a:ea typeface="DM Sans"/>
                <a:cs typeface="DM Sans"/>
                <a:sym typeface="DM Sans"/>
              </a:rPr>
              <a:t>Restaurant Sales Analytics Dashboard</a:t>
            </a:r>
          </a:p>
        </p:txBody>
      </p:sp>
      <p:sp>
        <p:nvSpPr>
          <p:cNvPr id="5" name="TextBox 5"/>
          <p:cNvSpPr txBox="1"/>
          <p:nvPr/>
        </p:nvSpPr>
        <p:spPr>
          <a:xfrm>
            <a:off x="803348" y="1180618"/>
            <a:ext cx="7515952" cy="781050"/>
          </a:xfrm>
          <a:prstGeom prst="rect">
            <a:avLst/>
          </a:prstGeom>
        </p:spPr>
        <p:txBody>
          <a:bodyPr lIns="0" tIns="0" rIns="0" bIns="0" rtlCol="0" anchor="t">
            <a:spAutoFit/>
          </a:bodyPr>
          <a:lstStyle/>
          <a:p>
            <a:pPr algn="ctr">
              <a:lnSpc>
                <a:spcPts val="3120"/>
              </a:lnSpc>
              <a:spcBef>
                <a:spcPct val="0"/>
              </a:spcBef>
            </a:pPr>
            <a:r>
              <a:rPr lang="en-US" sz="2600">
                <a:solidFill>
                  <a:srgbClr val="F1F5EE"/>
                </a:solidFill>
                <a:latin typeface="DM Sans"/>
                <a:ea typeface="DM Sans"/>
                <a:cs typeface="DM Sans"/>
                <a:sym typeface="DM Sans"/>
              </a:rPr>
              <a:t>Performance Analysis • Menu Insights • Customer Behavior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2112534" y="699750"/>
            <a:ext cx="17337405" cy="9972746"/>
            <a:chOff x="0" y="0"/>
            <a:chExt cx="4566230" cy="2626567"/>
          </a:xfrm>
        </p:grpSpPr>
        <p:sp>
          <p:nvSpPr>
            <p:cNvPr id="3" name="Freeform 3">
              <a:extLst>
                <a:ext uri="{C183D7F6-B498-43B3-948B-1728B52AA6E4}">
                  <adec:decorative xmlns:adec="http://schemas.microsoft.com/office/drawing/2017/decorative" val="1"/>
                </a:ext>
              </a:extLst>
            </p:cNvPr>
            <p:cNvSpPr/>
            <p:nvPr/>
          </p:nvSpPr>
          <p:spPr>
            <a:xfrm>
              <a:off x="0" y="0"/>
              <a:ext cx="4566230" cy="2626567"/>
            </a:xfrm>
            <a:custGeom>
              <a:avLst/>
              <a:gdLst/>
              <a:ahLst/>
              <a:cxnLst/>
              <a:rect l="l" t="t" r="r" b="b"/>
              <a:pathLst>
                <a:path w="4566230" h="2626567">
                  <a:moveTo>
                    <a:pt x="13396" y="0"/>
                  </a:moveTo>
                  <a:lnTo>
                    <a:pt x="4552834" y="0"/>
                  </a:lnTo>
                  <a:cubicBezTo>
                    <a:pt x="4556387" y="0"/>
                    <a:pt x="4559794" y="1411"/>
                    <a:pt x="4562306" y="3924"/>
                  </a:cubicBezTo>
                  <a:cubicBezTo>
                    <a:pt x="4564819" y="6436"/>
                    <a:pt x="4566230" y="9843"/>
                    <a:pt x="4566230" y="13396"/>
                  </a:cubicBezTo>
                  <a:lnTo>
                    <a:pt x="4566230" y="2613171"/>
                  </a:lnTo>
                  <a:cubicBezTo>
                    <a:pt x="4566230" y="2616723"/>
                    <a:pt x="4564819" y="2620131"/>
                    <a:pt x="4562306" y="2622643"/>
                  </a:cubicBezTo>
                  <a:cubicBezTo>
                    <a:pt x="4559794" y="2625155"/>
                    <a:pt x="4556387" y="2626567"/>
                    <a:pt x="4552834" y="2626567"/>
                  </a:cubicBezTo>
                  <a:lnTo>
                    <a:pt x="13396" y="2626567"/>
                  </a:lnTo>
                  <a:cubicBezTo>
                    <a:pt x="9843" y="2626567"/>
                    <a:pt x="6436" y="2625155"/>
                    <a:pt x="3924" y="2622643"/>
                  </a:cubicBezTo>
                  <a:cubicBezTo>
                    <a:pt x="1411" y="2620131"/>
                    <a:pt x="0" y="2616723"/>
                    <a:pt x="0" y="2613171"/>
                  </a:cubicBezTo>
                  <a:lnTo>
                    <a:pt x="0" y="13396"/>
                  </a:lnTo>
                  <a:cubicBezTo>
                    <a:pt x="0" y="9843"/>
                    <a:pt x="1411" y="6436"/>
                    <a:pt x="3924" y="3924"/>
                  </a:cubicBezTo>
                  <a:cubicBezTo>
                    <a:pt x="6436" y="1411"/>
                    <a:pt x="9843" y="0"/>
                    <a:pt x="13396" y="0"/>
                  </a:cubicBezTo>
                  <a:close/>
                </a:path>
              </a:pathLst>
            </a:custGeom>
            <a:solidFill>
              <a:srgbClr val="98C299"/>
            </a:solidFill>
          </p:spPr>
        </p:sp>
        <p:sp>
          <p:nvSpPr>
            <p:cNvPr id="4" name="TextBox 4"/>
            <p:cNvSpPr txBox="1"/>
            <p:nvPr/>
          </p:nvSpPr>
          <p:spPr>
            <a:xfrm>
              <a:off x="0" y="-19050"/>
              <a:ext cx="4566230" cy="2645617"/>
            </a:xfrm>
            <a:prstGeom prst="rect">
              <a:avLst/>
            </a:prstGeom>
          </p:spPr>
          <p:txBody>
            <a:bodyPr lIns="50800" tIns="50800" rIns="50800" bIns="50800" rtlCol="0" anchor="ctr"/>
            <a:lstStyle/>
            <a:p>
              <a:pPr algn="ctr">
                <a:lnSpc>
                  <a:spcPts val="2500"/>
                </a:lnSpc>
              </a:pPr>
              <a:endParaRPr/>
            </a:p>
          </p:txBody>
        </p:sp>
      </p:grpSp>
      <p:sp>
        <p:nvSpPr>
          <p:cNvPr id="5" name="Freeform 5"/>
          <p:cNvSpPr/>
          <p:nvPr/>
        </p:nvSpPr>
        <p:spPr>
          <a:xfrm>
            <a:off x="5496192" y="3712474"/>
            <a:ext cx="627908" cy="629052"/>
          </a:xfrm>
          <a:custGeom>
            <a:avLst/>
            <a:gdLst/>
            <a:ahLst/>
            <a:cxnLst/>
            <a:rect l="l" t="t" r="r" b="b"/>
            <a:pathLst>
              <a:path w="627908" h="629052">
                <a:moveTo>
                  <a:pt x="0" y="0"/>
                </a:moveTo>
                <a:lnTo>
                  <a:pt x="627908" y="0"/>
                </a:lnTo>
                <a:lnTo>
                  <a:pt x="627908" y="629052"/>
                </a:lnTo>
                <a:lnTo>
                  <a:pt x="0" y="629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5496192" y="4772226"/>
            <a:ext cx="627908" cy="629052"/>
          </a:xfrm>
          <a:custGeom>
            <a:avLst/>
            <a:gdLst/>
            <a:ahLst/>
            <a:cxnLst/>
            <a:rect l="l" t="t" r="r" b="b"/>
            <a:pathLst>
              <a:path w="627908" h="629052">
                <a:moveTo>
                  <a:pt x="0" y="0"/>
                </a:moveTo>
                <a:lnTo>
                  <a:pt x="627908" y="0"/>
                </a:lnTo>
                <a:lnTo>
                  <a:pt x="627908" y="629052"/>
                </a:lnTo>
                <a:lnTo>
                  <a:pt x="0" y="629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5187325" y="1933575"/>
            <a:ext cx="10995650" cy="1209675"/>
          </a:xfrm>
          <a:prstGeom prst="rect">
            <a:avLst/>
          </a:prstGeom>
        </p:spPr>
        <p:txBody>
          <a:bodyPr lIns="0" tIns="0" rIns="0" bIns="0" rtlCol="0" anchor="t">
            <a:spAutoFit/>
          </a:bodyPr>
          <a:lstStyle/>
          <a:p>
            <a:pPr marL="0" lvl="0" indent="0" algn="l">
              <a:lnSpc>
                <a:spcPts val="9000"/>
              </a:lnSpc>
            </a:pPr>
            <a:r>
              <a:rPr lang="en-US" sz="9000" spc="-270">
                <a:solidFill>
                  <a:srgbClr val="3A6A47"/>
                </a:solidFill>
                <a:latin typeface="DM Sans"/>
                <a:ea typeface="DM Sans"/>
                <a:cs typeface="DM Sans"/>
                <a:sym typeface="DM Sans"/>
              </a:rPr>
              <a:t>Table of Contents</a:t>
            </a:r>
          </a:p>
        </p:txBody>
      </p:sp>
      <p:sp>
        <p:nvSpPr>
          <p:cNvPr id="8" name="TextBox 8"/>
          <p:cNvSpPr txBox="1"/>
          <p:nvPr/>
        </p:nvSpPr>
        <p:spPr>
          <a:xfrm>
            <a:off x="6409503" y="3674561"/>
            <a:ext cx="9773472" cy="695325"/>
          </a:xfrm>
          <a:prstGeom prst="rect">
            <a:avLst/>
          </a:prstGeom>
        </p:spPr>
        <p:txBody>
          <a:bodyPr lIns="0" tIns="0" rIns="0" bIns="0" rtlCol="0" anchor="t">
            <a:spAutoFit/>
          </a:bodyPr>
          <a:lstStyle/>
          <a:p>
            <a:pPr marL="0" lvl="0" indent="0" algn="l">
              <a:lnSpc>
                <a:spcPts val="5400"/>
              </a:lnSpc>
            </a:pPr>
            <a:r>
              <a:rPr lang="en-US" sz="4500">
                <a:solidFill>
                  <a:srgbClr val="3A6A47"/>
                </a:solidFill>
                <a:latin typeface="DM Sans"/>
                <a:ea typeface="DM Sans"/>
                <a:cs typeface="DM Sans"/>
                <a:sym typeface="DM Sans"/>
              </a:rPr>
              <a:t>Objective</a:t>
            </a:r>
          </a:p>
        </p:txBody>
      </p:sp>
      <p:sp>
        <p:nvSpPr>
          <p:cNvPr id="9" name="TextBox 9"/>
          <p:cNvSpPr txBox="1"/>
          <p:nvPr/>
        </p:nvSpPr>
        <p:spPr>
          <a:xfrm>
            <a:off x="6409503" y="4734327"/>
            <a:ext cx="9773472" cy="695325"/>
          </a:xfrm>
          <a:prstGeom prst="rect">
            <a:avLst/>
          </a:prstGeom>
        </p:spPr>
        <p:txBody>
          <a:bodyPr lIns="0" tIns="0" rIns="0" bIns="0" rtlCol="0" anchor="t">
            <a:spAutoFit/>
          </a:bodyPr>
          <a:lstStyle/>
          <a:p>
            <a:pPr marL="0" lvl="0" indent="0" algn="l">
              <a:lnSpc>
                <a:spcPts val="5400"/>
              </a:lnSpc>
              <a:spcBef>
                <a:spcPct val="0"/>
              </a:spcBef>
            </a:pPr>
            <a:r>
              <a:rPr lang="en-US" sz="4500" u="none" strike="noStrike">
                <a:solidFill>
                  <a:srgbClr val="3A6A47"/>
                </a:solidFill>
                <a:latin typeface="DM Sans"/>
                <a:ea typeface="DM Sans"/>
                <a:cs typeface="DM Sans"/>
                <a:sym typeface="DM Sans"/>
              </a:rPr>
              <a:t>Methodology</a:t>
            </a:r>
          </a:p>
        </p:txBody>
      </p:sp>
      <p:sp>
        <p:nvSpPr>
          <p:cNvPr id="10" name="TextBox 10"/>
          <p:cNvSpPr txBox="1"/>
          <p:nvPr/>
        </p:nvSpPr>
        <p:spPr>
          <a:xfrm>
            <a:off x="6409503" y="5848551"/>
            <a:ext cx="9773472" cy="695325"/>
          </a:xfrm>
          <a:prstGeom prst="rect">
            <a:avLst/>
          </a:prstGeom>
        </p:spPr>
        <p:txBody>
          <a:bodyPr lIns="0" tIns="0" rIns="0" bIns="0" rtlCol="0" anchor="t">
            <a:spAutoFit/>
          </a:bodyPr>
          <a:lstStyle/>
          <a:p>
            <a:pPr marL="0" lvl="0" indent="0" algn="l">
              <a:lnSpc>
                <a:spcPts val="5400"/>
              </a:lnSpc>
              <a:spcBef>
                <a:spcPct val="0"/>
              </a:spcBef>
            </a:pPr>
            <a:r>
              <a:rPr lang="en-US" sz="4500" u="none" strike="noStrike">
                <a:solidFill>
                  <a:srgbClr val="3A6A47"/>
                </a:solidFill>
                <a:latin typeface="DM Sans"/>
                <a:ea typeface="DM Sans"/>
                <a:cs typeface="DM Sans"/>
                <a:sym typeface="DM Sans"/>
              </a:rPr>
              <a:t>Restaurant Performance</a:t>
            </a:r>
          </a:p>
        </p:txBody>
      </p:sp>
      <p:sp>
        <p:nvSpPr>
          <p:cNvPr id="11" name="TextBox 11"/>
          <p:cNvSpPr txBox="1"/>
          <p:nvPr/>
        </p:nvSpPr>
        <p:spPr>
          <a:xfrm>
            <a:off x="6409503" y="6934401"/>
            <a:ext cx="9773472" cy="695325"/>
          </a:xfrm>
          <a:prstGeom prst="rect">
            <a:avLst/>
          </a:prstGeom>
        </p:spPr>
        <p:txBody>
          <a:bodyPr lIns="0" tIns="0" rIns="0" bIns="0" rtlCol="0" anchor="t">
            <a:spAutoFit/>
          </a:bodyPr>
          <a:lstStyle/>
          <a:p>
            <a:pPr marL="0" lvl="0" indent="0" algn="l">
              <a:lnSpc>
                <a:spcPts val="5400"/>
              </a:lnSpc>
              <a:spcBef>
                <a:spcPct val="0"/>
              </a:spcBef>
            </a:pPr>
            <a:r>
              <a:rPr lang="en-US" sz="4500" u="none" strike="noStrike">
                <a:solidFill>
                  <a:srgbClr val="3A6A47"/>
                </a:solidFill>
                <a:latin typeface="DM Sans"/>
                <a:ea typeface="DM Sans"/>
                <a:cs typeface="DM Sans"/>
                <a:sym typeface="DM Sans"/>
              </a:rPr>
              <a:t>Menu Insights &amp; Item Analysis</a:t>
            </a:r>
          </a:p>
        </p:txBody>
      </p:sp>
      <p:sp>
        <p:nvSpPr>
          <p:cNvPr id="12" name="Freeform 12"/>
          <p:cNvSpPr/>
          <p:nvPr/>
        </p:nvSpPr>
        <p:spPr>
          <a:xfrm>
            <a:off x="5496192" y="5829903"/>
            <a:ext cx="627908" cy="629052"/>
          </a:xfrm>
          <a:custGeom>
            <a:avLst/>
            <a:gdLst/>
            <a:ahLst/>
            <a:cxnLst/>
            <a:rect l="l" t="t" r="r" b="b"/>
            <a:pathLst>
              <a:path w="627908" h="629052">
                <a:moveTo>
                  <a:pt x="0" y="0"/>
                </a:moveTo>
                <a:lnTo>
                  <a:pt x="627908" y="0"/>
                </a:lnTo>
                <a:lnTo>
                  <a:pt x="627908" y="629052"/>
                </a:lnTo>
                <a:lnTo>
                  <a:pt x="0" y="629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5496192" y="6887580"/>
            <a:ext cx="627908" cy="629052"/>
          </a:xfrm>
          <a:custGeom>
            <a:avLst/>
            <a:gdLst/>
            <a:ahLst/>
            <a:cxnLst/>
            <a:rect l="l" t="t" r="r" b="b"/>
            <a:pathLst>
              <a:path w="627908" h="629052">
                <a:moveTo>
                  <a:pt x="0" y="0"/>
                </a:moveTo>
                <a:lnTo>
                  <a:pt x="627908" y="0"/>
                </a:lnTo>
                <a:lnTo>
                  <a:pt x="627908" y="629052"/>
                </a:lnTo>
                <a:lnTo>
                  <a:pt x="0" y="629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5496192" y="7945257"/>
            <a:ext cx="627908" cy="629052"/>
          </a:xfrm>
          <a:custGeom>
            <a:avLst/>
            <a:gdLst/>
            <a:ahLst/>
            <a:cxnLst/>
            <a:rect l="l" t="t" r="r" b="b"/>
            <a:pathLst>
              <a:path w="627908" h="629052">
                <a:moveTo>
                  <a:pt x="0" y="0"/>
                </a:moveTo>
                <a:lnTo>
                  <a:pt x="627908" y="0"/>
                </a:lnTo>
                <a:lnTo>
                  <a:pt x="627908" y="629052"/>
                </a:lnTo>
                <a:lnTo>
                  <a:pt x="0" y="629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6409503" y="8020251"/>
            <a:ext cx="9773472" cy="695325"/>
          </a:xfrm>
          <a:prstGeom prst="rect">
            <a:avLst/>
          </a:prstGeom>
        </p:spPr>
        <p:txBody>
          <a:bodyPr lIns="0" tIns="0" rIns="0" bIns="0" rtlCol="0" anchor="t">
            <a:spAutoFit/>
          </a:bodyPr>
          <a:lstStyle/>
          <a:p>
            <a:pPr marL="0" lvl="0" indent="0" algn="l">
              <a:lnSpc>
                <a:spcPts val="5400"/>
              </a:lnSpc>
              <a:spcBef>
                <a:spcPct val="0"/>
              </a:spcBef>
            </a:pPr>
            <a:r>
              <a:rPr lang="en-US" sz="4500">
                <a:solidFill>
                  <a:srgbClr val="3A6A47"/>
                </a:solidFill>
                <a:latin typeface="DM Sans"/>
                <a:ea typeface="DM Sans"/>
                <a:cs typeface="DM Sans"/>
                <a:sym typeface="DM Sans"/>
              </a:rPr>
              <a:t>D</a:t>
            </a:r>
            <a:r>
              <a:rPr lang="en-US" sz="4500" u="none" strike="noStrike">
                <a:solidFill>
                  <a:srgbClr val="3A6A47"/>
                </a:solidFill>
                <a:latin typeface="DM Sans"/>
                <a:ea typeface="DM Sans"/>
                <a:cs typeface="DM Sans"/>
                <a:sym typeface="DM Sans"/>
              </a:rPr>
              <a:t>etailed Order Breakdown</a:t>
            </a:r>
          </a:p>
        </p:txBody>
      </p:sp>
      <p:sp>
        <p:nvSpPr>
          <p:cNvPr id="16" name="Freeform 16"/>
          <p:cNvSpPr/>
          <p:nvPr/>
        </p:nvSpPr>
        <p:spPr>
          <a:xfrm>
            <a:off x="5496192" y="9002934"/>
            <a:ext cx="627908" cy="629052"/>
          </a:xfrm>
          <a:custGeom>
            <a:avLst/>
            <a:gdLst/>
            <a:ahLst/>
            <a:cxnLst/>
            <a:rect l="l" t="t" r="r" b="b"/>
            <a:pathLst>
              <a:path w="627908" h="629052">
                <a:moveTo>
                  <a:pt x="0" y="0"/>
                </a:moveTo>
                <a:lnTo>
                  <a:pt x="627908" y="0"/>
                </a:lnTo>
                <a:lnTo>
                  <a:pt x="627908" y="629052"/>
                </a:lnTo>
                <a:lnTo>
                  <a:pt x="0" y="629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6409503" y="9106101"/>
            <a:ext cx="9773472" cy="695325"/>
          </a:xfrm>
          <a:prstGeom prst="rect">
            <a:avLst/>
          </a:prstGeom>
        </p:spPr>
        <p:txBody>
          <a:bodyPr lIns="0" tIns="0" rIns="0" bIns="0" rtlCol="0" anchor="t">
            <a:spAutoFit/>
          </a:bodyPr>
          <a:lstStyle/>
          <a:p>
            <a:pPr marL="0" lvl="0" indent="0" algn="l">
              <a:lnSpc>
                <a:spcPts val="5400"/>
              </a:lnSpc>
              <a:spcBef>
                <a:spcPct val="0"/>
              </a:spcBef>
            </a:pPr>
            <a:r>
              <a:rPr lang="en-US" sz="4500">
                <a:solidFill>
                  <a:srgbClr val="3A6A47"/>
                </a:solidFill>
                <a:latin typeface="DM Sans"/>
                <a:ea typeface="DM Sans"/>
                <a:cs typeface="DM Sans"/>
                <a:sym typeface="DM Sans"/>
              </a:rPr>
              <a:t>Ins</a:t>
            </a:r>
            <a:r>
              <a:rPr lang="en-US" sz="4500" u="none" strike="noStrike">
                <a:solidFill>
                  <a:srgbClr val="3A6A47"/>
                </a:solidFill>
                <a:latin typeface="DM Sans"/>
                <a:ea typeface="DM Sans"/>
                <a:cs typeface="DM Sans"/>
                <a:sym typeface="DM Sans"/>
              </a:rPr>
              <a:t>ights &amp; Recommendations</a:t>
            </a:r>
          </a:p>
        </p:txBody>
      </p:sp>
      <p:sp>
        <p:nvSpPr>
          <p:cNvPr id="18" name="TextBox 18"/>
          <p:cNvSpPr txBox="1"/>
          <p:nvPr/>
        </p:nvSpPr>
        <p:spPr>
          <a:xfrm>
            <a:off x="17344998" y="9579915"/>
            <a:ext cx="173620" cy="364185"/>
          </a:xfrm>
          <a:prstGeom prst="rect">
            <a:avLst/>
          </a:prstGeom>
        </p:spPr>
        <p:txBody>
          <a:bodyPr lIns="0" tIns="0" rIns="0" bIns="0" rtlCol="0" anchor="t">
            <a:spAutoFit/>
          </a:bodyPr>
          <a:lstStyle/>
          <a:p>
            <a:pPr algn="ctr">
              <a:lnSpc>
                <a:spcPts val="2867"/>
              </a:lnSpc>
              <a:spcBef>
                <a:spcPct val="0"/>
              </a:spcBef>
            </a:pPr>
            <a:r>
              <a:rPr lang="en-US" sz="2389">
                <a:solidFill>
                  <a:srgbClr val="3A6A47"/>
                </a:solidFill>
                <a:latin typeface="DM Sans"/>
                <a:ea typeface="DM Sans"/>
                <a:cs typeface="DM Sans"/>
                <a:sym typeface="DM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sp>
        <p:nvSpPr>
          <p:cNvPr id="2" name="TextBox 2"/>
          <p:cNvSpPr txBox="1"/>
          <p:nvPr/>
        </p:nvSpPr>
        <p:spPr>
          <a:xfrm>
            <a:off x="1475176" y="3223631"/>
            <a:ext cx="14822001" cy="4505720"/>
          </a:xfrm>
          <a:prstGeom prst="rect">
            <a:avLst/>
          </a:prstGeom>
        </p:spPr>
        <p:txBody>
          <a:bodyPr lIns="0" tIns="0" rIns="0" bIns="0" rtlCol="0" anchor="t">
            <a:spAutoFit/>
          </a:bodyPr>
          <a:lstStyle/>
          <a:p>
            <a:pPr marL="0" lvl="0" indent="0" algn="l">
              <a:lnSpc>
                <a:spcPts val="7150"/>
              </a:lnSpc>
            </a:pPr>
            <a:r>
              <a:rPr lang="en-US" sz="5586" spc="-167">
                <a:solidFill>
                  <a:srgbClr val="F1F5EE"/>
                </a:solidFill>
                <a:latin typeface="DM Sans"/>
                <a:ea typeface="DM Sans"/>
                <a:cs typeface="DM Sans"/>
                <a:sym typeface="DM Sans"/>
              </a:rPr>
              <a:t>The objective of this project is to analyze the restaurant’s sales performance using SQL and Power BI, identify top selling items and categories, study customer ordering behavior, and uncover revenue trends.</a:t>
            </a:r>
          </a:p>
        </p:txBody>
      </p:sp>
      <p:grpSp>
        <p:nvGrpSpPr>
          <p:cNvPr id="3" name="Group 3"/>
          <p:cNvGrpSpPr/>
          <p:nvPr/>
        </p:nvGrpSpPr>
        <p:grpSpPr>
          <a:xfrm>
            <a:off x="5864739" y="498671"/>
            <a:ext cx="12596882" cy="1299528"/>
            <a:chOff x="0" y="0"/>
            <a:chExt cx="3317697" cy="342263"/>
          </a:xfrm>
        </p:grpSpPr>
        <p:sp>
          <p:nvSpPr>
            <p:cNvPr id="4" name="Freeform 4"/>
            <p:cNvSpPr/>
            <p:nvPr/>
          </p:nvSpPr>
          <p:spPr>
            <a:xfrm>
              <a:off x="0" y="0"/>
              <a:ext cx="3317697" cy="342263"/>
            </a:xfrm>
            <a:custGeom>
              <a:avLst/>
              <a:gdLst/>
              <a:ahLst/>
              <a:cxnLst/>
              <a:rect l="l" t="t" r="r" b="b"/>
              <a:pathLst>
                <a:path w="3317697" h="342263">
                  <a:moveTo>
                    <a:pt x="10448" y="0"/>
                  </a:moveTo>
                  <a:lnTo>
                    <a:pt x="3307249" y="0"/>
                  </a:lnTo>
                  <a:cubicBezTo>
                    <a:pt x="3310020" y="0"/>
                    <a:pt x="3312678" y="1101"/>
                    <a:pt x="3314637" y="3060"/>
                  </a:cubicBezTo>
                  <a:cubicBezTo>
                    <a:pt x="3316597" y="5020"/>
                    <a:pt x="3317697" y="7677"/>
                    <a:pt x="3317697" y="10448"/>
                  </a:cubicBezTo>
                  <a:lnTo>
                    <a:pt x="3317697" y="331815"/>
                  </a:lnTo>
                  <a:cubicBezTo>
                    <a:pt x="3317697" y="334586"/>
                    <a:pt x="3316597" y="337243"/>
                    <a:pt x="3314637" y="339202"/>
                  </a:cubicBezTo>
                  <a:cubicBezTo>
                    <a:pt x="3312678" y="341162"/>
                    <a:pt x="3310020" y="342263"/>
                    <a:pt x="3307249" y="342263"/>
                  </a:cubicBezTo>
                  <a:lnTo>
                    <a:pt x="10448" y="342263"/>
                  </a:lnTo>
                  <a:cubicBezTo>
                    <a:pt x="7677" y="342263"/>
                    <a:pt x="5020" y="341162"/>
                    <a:pt x="3060" y="339202"/>
                  </a:cubicBezTo>
                  <a:cubicBezTo>
                    <a:pt x="1101" y="337243"/>
                    <a:pt x="0" y="334586"/>
                    <a:pt x="0" y="331815"/>
                  </a:cubicBezTo>
                  <a:lnTo>
                    <a:pt x="0" y="10448"/>
                  </a:lnTo>
                  <a:cubicBezTo>
                    <a:pt x="0" y="7677"/>
                    <a:pt x="1101" y="5020"/>
                    <a:pt x="3060" y="3060"/>
                  </a:cubicBezTo>
                  <a:cubicBezTo>
                    <a:pt x="5020" y="1101"/>
                    <a:pt x="7677" y="0"/>
                    <a:pt x="10448" y="0"/>
                  </a:cubicBezTo>
                  <a:close/>
                </a:path>
              </a:pathLst>
            </a:custGeom>
            <a:solidFill>
              <a:srgbClr val="98C299"/>
            </a:solidFill>
          </p:spPr>
        </p:sp>
        <p:sp>
          <p:nvSpPr>
            <p:cNvPr id="5" name="TextBox 5"/>
            <p:cNvSpPr txBox="1"/>
            <p:nvPr/>
          </p:nvSpPr>
          <p:spPr>
            <a:xfrm>
              <a:off x="0" y="0"/>
              <a:ext cx="3317697" cy="342263"/>
            </a:xfrm>
            <a:prstGeom prst="rect">
              <a:avLst/>
            </a:prstGeom>
          </p:spPr>
          <p:txBody>
            <a:bodyPr lIns="50800" tIns="50800" rIns="50800" bIns="50800" rtlCol="0" anchor="ctr"/>
            <a:lstStyle/>
            <a:p>
              <a:pPr algn="ctr">
                <a:lnSpc>
                  <a:spcPts val="6719"/>
                </a:lnSpc>
              </a:pPr>
              <a:r>
                <a:rPr lang="en-US" sz="5599" b="1">
                  <a:solidFill>
                    <a:srgbClr val="FEFFFF"/>
                  </a:solidFill>
                  <a:latin typeface="DM Sans Bold"/>
                  <a:ea typeface="DM Sans Bold"/>
                  <a:cs typeface="DM Sans Bold"/>
                  <a:sym typeface="DM Sans Bold"/>
                </a:rPr>
                <a:t>Objective</a:t>
              </a:r>
            </a:p>
          </p:txBody>
        </p:sp>
      </p:grpSp>
      <p:sp>
        <p:nvSpPr>
          <p:cNvPr id="6" name="TextBox 6"/>
          <p:cNvSpPr txBox="1"/>
          <p:nvPr/>
        </p:nvSpPr>
        <p:spPr>
          <a:xfrm>
            <a:off x="17259300" y="9425074"/>
            <a:ext cx="254377" cy="519026"/>
          </a:xfrm>
          <a:prstGeom prst="rect">
            <a:avLst/>
          </a:prstGeom>
        </p:spPr>
        <p:txBody>
          <a:bodyPr lIns="0" tIns="0" rIns="0" bIns="0" rtlCol="0" anchor="t">
            <a:spAutoFit/>
          </a:bodyPr>
          <a:lstStyle/>
          <a:p>
            <a:pPr algn="ctr">
              <a:lnSpc>
                <a:spcPts val="4086"/>
              </a:lnSpc>
              <a:spcBef>
                <a:spcPct val="0"/>
              </a:spcBef>
            </a:pPr>
            <a:r>
              <a:rPr lang="en-US" sz="3405">
                <a:solidFill>
                  <a:srgbClr val="FEFFFF"/>
                </a:solidFill>
                <a:latin typeface="DM Sans"/>
                <a:ea typeface="DM Sans"/>
                <a:cs typeface="DM Sans"/>
                <a:sym typeface="DM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5994955" y="845913"/>
            <a:ext cx="12596882" cy="1299528"/>
            <a:chOff x="0" y="0"/>
            <a:chExt cx="3317697" cy="342263"/>
          </a:xfrm>
        </p:grpSpPr>
        <p:sp>
          <p:nvSpPr>
            <p:cNvPr id="3" name="Freeform 3"/>
            <p:cNvSpPr/>
            <p:nvPr/>
          </p:nvSpPr>
          <p:spPr>
            <a:xfrm>
              <a:off x="0" y="0"/>
              <a:ext cx="3317697" cy="342263"/>
            </a:xfrm>
            <a:custGeom>
              <a:avLst/>
              <a:gdLst/>
              <a:ahLst/>
              <a:cxnLst/>
              <a:rect l="l" t="t" r="r" b="b"/>
              <a:pathLst>
                <a:path w="3317697" h="342263">
                  <a:moveTo>
                    <a:pt x="10448" y="0"/>
                  </a:moveTo>
                  <a:lnTo>
                    <a:pt x="3307249" y="0"/>
                  </a:lnTo>
                  <a:cubicBezTo>
                    <a:pt x="3310020" y="0"/>
                    <a:pt x="3312678" y="1101"/>
                    <a:pt x="3314637" y="3060"/>
                  </a:cubicBezTo>
                  <a:cubicBezTo>
                    <a:pt x="3316597" y="5020"/>
                    <a:pt x="3317697" y="7677"/>
                    <a:pt x="3317697" y="10448"/>
                  </a:cubicBezTo>
                  <a:lnTo>
                    <a:pt x="3317697" y="331815"/>
                  </a:lnTo>
                  <a:cubicBezTo>
                    <a:pt x="3317697" y="334586"/>
                    <a:pt x="3316597" y="337243"/>
                    <a:pt x="3314637" y="339202"/>
                  </a:cubicBezTo>
                  <a:cubicBezTo>
                    <a:pt x="3312678" y="341162"/>
                    <a:pt x="3310020" y="342263"/>
                    <a:pt x="3307249" y="342263"/>
                  </a:cubicBezTo>
                  <a:lnTo>
                    <a:pt x="10448" y="342263"/>
                  </a:lnTo>
                  <a:cubicBezTo>
                    <a:pt x="7677" y="342263"/>
                    <a:pt x="5020" y="341162"/>
                    <a:pt x="3060" y="339202"/>
                  </a:cubicBezTo>
                  <a:cubicBezTo>
                    <a:pt x="1101" y="337243"/>
                    <a:pt x="0" y="334586"/>
                    <a:pt x="0" y="331815"/>
                  </a:cubicBezTo>
                  <a:lnTo>
                    <a:pt x="0" y="10448"/>
                  </a:lnTo>
                  <a:cubicBezTo>
                    <a:pt x="0" y="7677"/>
                    <a:pt x="1101" y="5020"/>
                    <a:pt x="3060" y="3060"/>
                  </a:cubicBezTo>
                  <a:cubicBezTo>
                    <a:pt x="5020" y="1101"/>
                    <a:pt x="7677" y="0"/>
                    <a:pt x="10448" y="0"/>
                  </a:cubicBezTo>
                  <a:close/>
                </a:path>
              </a:pathLst>
            </a:custGeom>
            <a:solidFill>
              <a:srgbClr val="98C299"/>
            </a:solidFill>
          </p:spPr>
        </p:sp>
        <p:sp>
          <p:nvSpPr>
            <p:cNvPr id="4" name="TextBox 4"/>
            <p:cNvSpPr txBox="1"/>
            <p:nvPr/>
          </p:nvSpPr>
          <p:spPr>
            <a:xfrm>
              <a:off x="0" y="0"/>
              <a:ext cx="3317697" cy="342263"/>
            </a:xfrm>
            <a:prstGeom prst="rect">
              <a:avLst/>
            </a:prstGeom>
          </p:spPr>
          <p:txBody>
            <a:bodyPr lIns="50800" tIns="50800" rIns="50800" bIns="50800" rtlCol="0" anchor="ctr"/>
            <a:lstStyle/>
            <a:p>
              <a:pPr algn="ctr">
                <a:lnSpc>
                  <a:spcPts val="6719"/>
                </a:lnSpc>
              </a:pPr>
              <a:r>
                <a:rPr lang="en-US" sz="5599" b="1">
                  <a:solidFill>
                    <a:srgbClr val="FEFFFF"/>
                  </a:solidFill>
                  <a:latin typeface="DM Sans Bold"/>
                  <a:ea typeface="DM Sans Bold"/>
                  <a:cs typeface="DM Sans Bold"/>
                  <a:sym typeface="DM Sans Bold"/>
                </a:rPr>
                <a:t>Methodology</a:t>
              </a:r>
            </a:p>
          </p:txBody>
        </p:sp>
      </p:grpSp>
      <p:grpSp>
        <p:nvGrpSpPr>
          <p:cNvPr id="5" name="Group 5"/>
          <p:cNvGrpSpPr/>
          <p:nvPr/>
        </p:nvGrpSpPr>
        <p:grpSpPr>
          <a:xfrm>
            <a:off x="239640" y="5143500"/>
            <a:ext cx="17873827" cy="2057627"/>
            <a:chOff x="0" y="0"/>
            <a:chExt cx="4306467" cy="495759"/>
          </a:xfrm>
        </p:grpSpPr>
        <p:sp>
          <p:nvSpPr>
            <p:cNvPr id="6" name="Freeform 6"/>
            <p:cNvSpPr/>
            <p:nvPr/>
          </p:nvSpPr>
          <p:spPr>
            <a:xfrm>
              <a:off x="0" y="0"/>
              <a:ext cx="4306467" cy="495759"/>
            </a:xfrm>
            <a:custGeom>
              <a:avLst/>
              <a:gdLst/>
              <a:ahLst/>
              <a:cxnLst/>
              <a:rect l="l" t="t" r="r" b="b"/>
              <a:pathLst>
                <a:path w="4306467" h="495759">
                  <a:moveTo>
                    <a:pt x="4306467" y="247879"/>
                  </a:moveTo>
                  <a:lnTo>
                    <a:pt x="3900067" y="0"/>
                  </a:lnTo>
                  <a:lnTo>
                    <a:pt x="3900067" y="203200"/>
                  </a:lnTo>
                  <a:lnTo>
                    <a:pt x="0" y="203200"/>
                  </a:lnTo>
                  <a:lnTo>
                    <a:pt x="0" y="292559"/>
                  </a:lnTo>
                  <a:lnTo>
                    <a:pt x="3900067" y="292559"/>
                  </a:lnTo>
                  <a:lnTo>
                    <a:pt x="3900067" y="495759"/>
                  </a:lnTo>
                  <a:lnTo>
                    <a:pt x="4306467" y="247879"/>
                  </a:lnTo>
                  <a:close/>
                </a:path>
              </a:pathLst>
            </a:custGeom>
            <a:gradFill rotWithShape="1">
              <a:gsLst>
                <a:gs pos="0">
                  <a:srgbClr val="113320">
                    <a:alpha val="100000"/>
                  </a:srgbClr>
                </a:gs>
                <a:gs pos="50000">
                  <a:srgbClr val="268D7C">
                    <a:alpha val="100000"/>
                  </a:srgbClr>
                </a:gs>
                <a:gs pos="100000">
                  <a:srgbClr val="C2FFB4">
                    <a:alpha val="100000"/>
                  </a:srgbClr>
                </a:gs>
              </a:gsLst>
              <a:lin ang="16200000"/>
            </a:gradFill>
            <a:ln cap="sq">
              <a:noFill/>
              <a:prstDash val="sysDot"/>
              <a:miter/>
            </a:ln>
          </p:spPr>
        </p:sp>
        <p:sp>
          <p:nvSpPr>
            <p:cNvPr id="7" name="TextBox 7"/>
            <p:cNvSpPr txBox="1"/>
            <p:nvPr/>
          </p:nvSpPr>
          <p:spPr>
            <a:xfrm>
              <a:off x="0" y="203200"/>
              <a:ext cx="4204867" cy="89359"/>
            </a:xfrm>
            <a:prstGeom prst="rect">
              <a:avLst/>
            </a:prstGeom>
          </p:spPr>
          <p:txBody>
            <a:bodyPr lIns="50800" tIns="50800" rIns="50800" bIns="50800" rtlCol="0" anchor="ctr"/>
            <a:lstStyle/>
            <a:p>
              <a:pPr algn="ctr">
                <a:lnSpc>
                  <a:spcPts val="2879"/>
                </a:lnSpc>
              </a:pPr>
              <a:endParaRPr/>
            </a:p>
          </p:txBody>
        </p:sp>
      </p:grpSp>
      <p:sp>
        <p:nvSpPr>
          <p:cNvPr id="8" name="TextBox 8"/>
          <p:cNvSpPr txBox="1"/>
          <p:nvPr/>
        </p:nvSpPr>
        <p:spPr>
          <a:xfrm>
            <a:off x="405497" y="3050778"/>
            <a:ext cx="4111944" cy="1005149"/>
          </a:xfrm>
          <a:prstGeom prst="rect">
            <a:avLst/>
          </a:prstGeom>
        </p:spPr>
        <p:txBody>
          <a:bodyPr lIns="0" tIns="0" rIns="0" bIns="0" rtlCol="0" anchor="t">
            <a:spAutoFit/>
          </a:bodyPr>
          <a:lstStyle/>
          <a:p>
            <a:pPr marL="0" lvl="0" indent="0" algn="l">
              <a:lnSpc>
                <a:spcPts val="3870"/>
              </a:lnSpc>
            </a:pPr>
            <a:r>
              <a:rPr lang="en-US" sz="3870" spc="-116">
                <a:solidFill>
                  <a:srgbClr val="3A6A47"/>
                </a:solidFill>
                <a:latin typeface="DM Sans"/>
                <a:ea typeface="DM Sans"/>
                <a:cs typeface="DM Sans"/>
                <a:sym typeface="DM Sans"/>
              </a:rPr>
              <a:t>1. Defining the Business Problem</a:t>
            </a:r>
          </a:p>
        </p:txBody>
      </p:sp>
      <p:sp>
        <p:nvSpPr>
          <p:cNvPr id="9" name="TextBox 9"/>
          <p:cNvSpPr txBox="1"/>
          <p:nvPr/>
        </p:nvSpPr>
        <p:spPr>
          <a:xfrm>
            <a:off x="703160" y="4304898"/>
            <a:ext cx="4428971" cy="1162379"/>
          </a:xfrm>
          <a:prstGeom prst="rect">
            <a:avLst/>
          </a:prstGeom>
        </p:spPr>
        <p:txBody>
          <a:bodyPr lIns="0" tIns="0" rIns="0" bIns="0" rtlCol="0" anchor="t">
            <a:spAutoFit/>
          </a:bodyPr>
          <a:lstStyle/>
          <a:p>
            <a:pPr marL="0" lvl="0" indent="0" algn="l">
              <a:lnSpc>
                <a:spcPts val="3029"/>
              </a:lnSpc>
            </a:pPr>
            <a:r>
              <a:rPr lang="en-US" sz="3029" spc="-90">
                <a:solidFill>
                  <a:srgbClr val="000000"/>
                </a:solidFill>
                <a:latin typeface="DM Sans"/>
                <a:ea typeface="DM Sans"/>
                <a:cs typeface="DM Sans"/>
                <a:sym typeface="DM Sans"/>
              </a:rPr>
              <a:t>Understanding what drives sales and customer demand</a:t>
            </a:r>
          </a:p>
        </p:txBody>
      </p:sp>
      <p:sp>
        <p:nvSpPr>
          <p:cNvPr id="10" name="TextBox 10"/>
          <p:cNvSpPr txBox="1"/>
          <p:nvPr/>
        </p:nvSpPr>
        <p:spPr>
          <a:xfrm>
            <a:off x="2917646" y="6877589"/>
            <a:ext cx="3923160" cy="955503"/>
          </a:xfrm>
          <a:prstGeom prst="rect">
            <a:avLst/>
          </a:prstGeom>
        </p:spPr>
        <p:txBody>
          <a:bodyPr lIns="0" tIns="0" rIns="0" bIns="0" rtlCol="0" anchor="t">
            <a:spAutoFit/>
          </a:bodyPr>
          <a:lstStyle/>
          <a:p>
            <a:pPr marL="0" lvl="0" indent="0" algn="l">
              <a:lnSpc>
                <a:spcPts val="3692"/>
              </a:lnSpc>
            </a:pPr>
            <a:r>
              <a:rPr lang="en-US" sz="3692" spc="-110">
                <a:solidFill>
                  <a:srgbClr val="3A6A47"/>
                </a:solidFill>
                <a:latin typeface="DM Sans"/>
                <a:ea typeface="DM Sans"/>
                <a:cs typeface="DM Sans"/>
                <a:sym typeface="DM Sans"/>
              </a:rPr>
              <a:t>2. Data Preparing &amp; Cleaning</a:t>
            </a:r>
          </a:p>
        </p:txBody>
      </p:sp>
      <p:sp>
        <p:nvSpPr>
          <p:cNvPr id="11" name="TextBox 11"/>
          <p:cNvSpPr txBox="1"/>
          <p:nvPr/>
        </p:nvSpPr>
        <p:spPr>
          <a:xfrm>
            <a:off x="3093103" y="7947392"/>
            <a:ext cx="4437197" cy="1927786"/>
          </a:xfrm>
          <a:prstGeom prst="rect">
            <a:avLst/>
          </a:prstGeom>
        </p:spPr>
        <p:txBody>
          <a:bodyPr lIns="0" tIns="0" rIns="0" bIns="0" rtlCol="0" anchor="t">
            <a:spAutoFit/>
          </a:bodyPr>
          <a:lstStyle/>
          <a:p>
            <a:pPr marL="0" lvl="0" indent="0" algn="l">
              <a:lnSpc>
                <a:spcPts val="3034"/>
              </a:lnSpc>
            </a:pPr>
            <a:r>
              <a:rPr lang="en-US" sz="3034" spc="-91">
                <a:solidFill>
                  <a:srgbClr val="000000"/>
                </a:solidFill>
                <a:latin typeface="DM Sans"/>
                <a:ea typeface="DM Sans"/>
                <a:cs typeface="DM Sans"/>
                <a:sym typeface="DM Sans"/>
              </a:rPr>
              <a:t>Cleaning data using SQL and Power Query (missing value, duplicate, validating date and price formats, etc)</a:t>
            </a:r>
          </a:p>
        </p:txBody>
      </p:sp>
      <p:sp>
        <p:nvSpPr>
          <p:cNvPr id="12" name="TextBox 12"/>
          <p:cNvSpPr txBox="1"/>
          <p:nvPr/>
        </p:nvSpPr>
        <p:spPr>
          <a:xfrm>
            <a:off x="5994955" y="3050778"/>
            <a:ext cx="3911567" cy="952454"/>
          </a:xfrm>
          <a:prstGeom prst="rect">
            <a:avLst/>
          </a:prstGeom>
        </p:spPr>
        <p:txBody>
          <a:bodyPr lIns="0" tIns="0" rIns="0" bIns="0" rtlCol="0" anchor="t">
            <a:spAutoFit/>
          </a:bodyPr>
          <a:lstStyle/>
          <a:p>
            <a:pPr marL="0" lvl="0" indent="0" algn="l">
              <a:lnSpc>
                <a:spcPts val="3681"/>
              </a:lnSpc>
            </a:pPr>
            <a:r>
              <a:rPr lang="en-US" sz="3681" spc="-110">
                <a:solidFill>
                  <a:srgbClr val="3A6A47"/>
                </a:solidFill>
                <a:latin typeface="DM Sans"/>
                <a:ea typeface="DM Sans"/>
                <a:cs typeface="DM Sans"/>
                <a:sym typeface="DM Sans"/>
              </a:rPr>
              <a:t>3. Exploratory Data Analysis</a:t>
            </a:r>
          </a:p>
        </p:txBody>
      </p:sp>
      <p:sp>
        <p:nvSpPr>
          <p:cNvPr id="13" name="TextBox 13"/>
          <p:cNvSpPr txBox="1"/>
          <p:nvPr/>
        </p:nvSpPr>
        <p:spPr>
          <a:xfrm>
            <a:off x="6271368" y="4174682"/>
            <a:ext cx="3826135" cy="790743"/>
          </a:xfrm>
          <a:prstGeom prst="rect">
            <a:avLst/>
          </a:prstGeom>
        </p:spPr>
        <p:txBody>
          <a:bodyPr lIns="0" tIns="0" rIns="0" bIns="0" rtlCol="0" anchor="t">
            <a:spAutoFit/>
          </a:bodyPr>
          <a:lstStyle/>
          <a:p>
            <a:pPr marL="0" lvl="0" indent="0" algn="l">
              <a:lnSpc>
                <a:spcPts val="3062"/>
              </a:lnSpc>
            </a:pPr>
            <a:r>
              <a:rPr lang="en-US" sz="3062" spc="-91">
                <a:solidFill>
                  <a:srgbClr val="000000"/>
                </a:solidFill>
                <a:latin typeface="DM Sans"/>
                <a:ea typeface="DM Sans"/>
                <a:cs typeface="DM Sans"/>
                <a:sym typeface="DM Sans"/>
              </a:rPr>
              <a:t>Explore data to undrstand trends</a:t>
            </a:r>
          </a:p>
        </p:txBody>
      </p:sp>
      <p:sp>
        <p:nvSpPr>
          <p:cNvPr id="14" name="TextBox 14"/>
          <p:cNvSpPr txBox="1"/>
          <p:nvPr/>
        </p:nvSpPr>
        <p:spPr>
          <a:xfrm>
            <a:off x="7950738" y="6687089"/>
            <a:ext cx="4048406" cy="514037"/>
          </a:xfrm>
          <a:prstGeom prst="rect">
            <a:avLst/>
          </a:prstGeom>
        </p:spPr>
        <p:txBody>
          <a:bodyPr lIns="0" tIns="0" rIns="0" bIns="0" rtlCol="0" anchor="t">
            <a:spAutoFit/>
          </a:bodyPr>
          <a:lstStyle/>
          <a:p>
            <a:pPr marL="0" lvl="0" indent="0" algn="l">
              <a:lnSpc>
                <a:spcPts val="3810"/>
              </a:lnSpc>
            </a:pPr>
            <a:r>
              <a:rPr lang="en-US" sz="3810" spc="-114">
                <a:solidFill>
                  <a:srgbClr val="3A6A47"/>
                </a:solidFill>
                <a:latin typeface="DM Sans"/>
                <a:ea typeface="DM Sans"/>
                <a:cs typeface="DM Sans"/>
                <a:sym typeface="DM Sans"/>
              </a:rPr>
              <a:t>4. Data Analysis</a:t>
            </a:r>
          </a:p>
        </p:txBody>
      </p:sp>
      <p:sp>
        <p:nvSpPr>
          <p:cNvPr id="15" name="TextBox 15"/>
          <p:cNvSpPr txBox="1"/>
          <p:nvPr/>
        </p:nvSpPr>
        <p:spPr>
          <a:xfrm>
            <a:off x="8578050" y="7439252"/>
            <a:ext cx="3854278" cy="1882591"/>
          </a:xfrm>
          <a:prstGeom prst="rect">
            <a:avLst/>
          </a:prstGeom>
        </p:spPr>
        <p:txBody>
          <a:bodyPr lIns="0" tIns="0" rIns="0" bIns="0" rtlCol="0" anchor="t">
            <a:spAutoFit/>
          </a:bodyPr>
          <a:lstStyle/>
          <a:p>
            <a:pPr marL="0" lvl="0" indent="0" algn="l">
              <a:lnSpc>
                <a:spcPts val="2965"/>
              </a:lnSpc>
            </a:pPr>
            <a:r>
              <a:rPr lang="en-US" sz="2965" spc="-88">
                <a:solidFill>
                  <a:srgbClr val="000000"/>
                </a:solidFill>
                <a:latin typeface="DM Sans"/>
                <a:ea typeface="DM Sans"/>
                <a:cs typeface="DM Sans"/>
                <a:sym typeface="DM Sans"/>
              </a:rPr>
              <a:t>Creating KPIs, analyzing order behavior, evaluating pricing, and measuring category performance.</a:t>
            </a:r>
          </a:p>
        </p:txBody>
      </p:sp>
      <p:sp>
        <p:nvSpPr>
          <p:cNvPr id="16" name="TextBox 16"/>
          <p:cNvSpPr txBox="1"/>
          <p:nvPr/>
        </p:nvSpPr>
        <p:spPr>
          <a:xfrm>
            <a:off x="11160664" y="3050778"/>
            <a:ext cx="3911567" cy="952454"/>
          </a:xfrm>
          <a:prstGeom prst="rect">
            <a:avLst/>
          </a:prstGeom>
        </p:spPr>
        <p:txBody>
          <a:bodyPr lIns="0" tIns="0" rIns="0" bIns="0" rtlCol="0" anchor="t">
            <a:spAutoFit/>
          </a:bodyPr>
          <a:lstStyle/>
          <a:p>
            <a:pPr marL="0" lvl="0" indent="0" algn="l">
              <a:lnSpc>
                <a:spcPts val="3681"/>
              </a:lnSpc>
            </a:pPr>
            <a:r>
              <a:rPr lang="en-US" sz="3681" spc="-110">
                <a:solidFill>
                  <a:srgbClr val="3A6A47"/>
                </a:solidFill>
                <a:latin typeface="DM Sans"/>
                <a:ea typeface="DM Sans"/>
                <a:cs typeface="DM Sans"/>
                <a:sym typeface="DM Sans"/>
              </a:rPr>
              <a:t>5. Data Visualization</a:t>
            </a:r>
          </a:p>
        </p:txBody>
      </p:sp>
      <p:sp>
        <p:nvSpPr>
          <p:cNvPr id="17" name="TextBox 17"/>
          <p:cNvSpPr txBox="1"/>
          <p:nvPr/>
        </p:nvSpPr>
        <p:spPr>
          <a:xfrm>
            <a:off x="11451502" y="4174682"/>
            <a:ext cx="4477701" cy="790743"/>
          </a:xfrm>
          <a:prstGeom prst="rect">
            <a:avLst/>
          </a:prstGeom>
        </p:spPr>
        <p:txBody>
          <a:bodyPr lIns="0" tIns="0" rIns="0" bIns="0" rtlCol="0" anchor="t">
            <a:spAutoFit/>
          </a:bodyPr>
          <a:lstStyle/>
          <a:p>
            <a:pPr marL="0" lvl="0" indent="0" algn="l">
              <a:lnSpc>
                <a:spcPts val="3062"/>
              </a:lnSpc>
            </a:pPr>
            <a:r>
              <a:rPr lang="en-US" sz="3062" spc="-91">
                <a:solidFill>
                  <a:srgbClr val="000000"/>
                </a:solidFill>
                <a:latin typeface="DM Sans"/>
                <a:ea typeface="DM Sans"/>
                <a:cs typeface="DM Sans"/>
                <a:sym typeface="DM Sans"/>
              </a:rPr>
              <a:t>Visualize data with chart &amp;  dashboard </a:t>
            </a:r>
          </a:p>
        </p:txBody>
      </p:sp>
      <p:sp>
        <p:nvSpPr>
          <p:cNvPr id="18" name="TextBox 18"/>
          <p:cNvSpPr txBox="1"/>
          <p:nvPr/>
        </p:nvSpPr>
        <p:spPr>
          <a:xfrm>
            <a:off x="13039078" y="6696614"/>
            <a:ext cx="3923160" cy="955503"/>
          </a:xfrm>
          <a:prstGeom prst="rect">
            <a:avLst/>
          </a:prstGeom>
        </p:spPr>
        <p:txBody>
          <a:bodyPr lIns="0" tIns="0" rIns="0" bIns="0" rtlCol="0" anchor="t">
            <a:spAutoFit/>
          </a:bodyPr>
          <a:lstStyle/>
          <a:p>
            <a:pPr marL="0" lvl="0" indent="0" algn="l">
              <a:lnSpc>
                <a:spcPts val="3692"/>
              </a:lnSpc>
            </a:pPr>
            <a:r>
              <a:rPr lang="en-US" sz="3692" spc="-110">
                <a:solidFill>
                  <a:srgbClr val="3A6A47"/>
                </a:solidFill>
                <a:latin typeface="DM Sans"/>
                <a:ea typeface="DM Sans"/>
                <a:cs typeface="DM Sans"/>
                <a:sym typeface="DM Sans"/>
              </a:rPr>
              <a:t>6. Insights &amp; Recommendations</a:t>
            </a:r>
          </a:p>
        </p:txBody>
      </p:sp>
      <p:sp>
        <p:nvSpPr>
          <p:cNvPr id="19" name="TextBox 19"/>
          <p:cNvSpPr txBox="1"/>
          <p:nvPr/>
        </p:nvSpPr>
        <p:spPr>
          <a:xfrm>
            <a:off x="13483212" y="7890242"/>
            <a:ext cx="4423861" cy="1160972"/>
          </a:xfrm>
          <a:prstGeom prst="rect">
            <a:avLst/>
          </a:prstGeom>
        </p:spPr>
        <p:txBody>
          <a:bodyPr lIns="0" tIns="0" rIns="0" bIns="0" rtlCol="0" anchor="t">
            <a:spAutoFit/>
          </a:bodyPr>
          <a:lstStyle/>
          <a:p>
            <a:pPr marL="0" lvl="0" indent="0" algn="l">
              <a:lnSpc>
                <a:spcPts val="3025"/>
              </a:lnSpc>
            </a:pPr>
            <a:r>
              <a:rPr lang="en-US" sz="3025" spc="-90">
                <a:solidFill>
                  <a:srgbClr val="000000"/>
                </a:solidFill>
                <a:latin typeface="DM Sans"/>
                <a:ea typeface="DM Sans"/>
                <a:cs typeface="DM Sans"/>
                <a:sym typeface="DM Sans"/>
              </a:rPr>
              <a:t>Address insights and give recommendations from the analysis</a:t>
            </a:r>
          </a:p>
        </p:txBody>
      </p:sp>
      <p:sp>
        <p:nvSpPr>
          <p:cNvPr id="20" name="TextBox 20"/>
          <p:cNvSpPr txBox="1"/>
          <p:nvPr/>
        </p:nvSpPr>
        <p:spPr>
          <a:xfrm>
            <a:off x="17321416" y="9553192"/>
            <a:ext cx="197083" cy="390908"/>
          </a:xfrm>
          <a:prstGeom prst="rect">
            <a:avLst/>
          </a:prstGeom>
        </p:spPr>
        <p:txBody>
          <a:bodyPr lIns="0" tIns="0" rIns="0" bIns="0" rtlCol="0" anchor="t">
            <a:spAutoFit/>
          </a:bodyPr>
          <a:lstStyle/>
          <a:p>
            <a:pPr algn="ctr">
              <a:lnSpc>
                <a:spcPts val="3078"/>
              </a:lnSpc>
              <a:spcBef>
                <a:spcPct val="0"/>
              </a:spcBef>
            </a:pPr>
            <a:r>
              <a:rPr lang="en-US" sz="2565">
                <a:solidFill>
                  <a:srgbClr val="3A6A47"/>
                </a:solidFill>
                <a:latin typeface="DM Sans"/>
                <a:ea typeface="DM Sans"/>
                <a:cs typeface="DM Sans"/>
                <a:sym typeface="DM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354287" y="4465053"/>
            <a:ext cx="17579427" cy="5304359"/>
            <a:chOff x="0" y="0"/>
            <a:chExt cx="4629973" cy="1397033"/>
          </a:xfrm>
        </p:grpSpPr>
        <p:sp>
          <p:nvSpPr>
            <p:cNvPr id="3" name="Freeform 3">
              <a:extLst>
                <a:ext uri="{C183D7F6-B498-43B3-948B-1728B52AA6E4}">
                  <adec:decorative xmlns:adec="http://schemas.microsoft.com/office/drawing/2017/decorative" val="1"/>
                </a:ext>
              </a:extLst>
            </p:cNvPr>
            <p:cNvSpPr/>
            <p:nvPr/>
          </p:nvSpPr>
          <p:spPr>
            <a:xfrm>
              <a:off x="0" y="0"/>
              <a:ext cx="4629972" cy="1397033"/>
            </a:xfrm>
            <a:custGeom>
              <a:avLst/>
              <a:gdLst/>
              <a:ahLst/>
              <a:cxnLst/>
              <a:rect l="l" t="t" r="r" b="b"/>
              <a:pathLst>
                <a:path w="4629972" h="1397033">
                  <a:moveTo>
                    <a:pt x="7927" y="0"/>
                  </a:moveTo>
                  <a:lnTo>
                    <a:pt x="4622045" y="0"/>
                  </a:lnTo>
                  <a:cubicBezTo>
                    <a:pt x="4626423" y="0"/>
                    <a:pt x="4629972" y="3549"/>
                    <a:pt x="4629972" y="7927"/>
                  </a:cubicBezTo>
                  <a:lnTo>
                    <a:pt x="4629972" y="1389106"/>
                  </a:lnTo>
                  <a:cubicBezTo>
                    <a:pt x="4629972" y="1391208"/>
                    <a:pt x="4629137" y="1393224"/>
                    <a:pt x="4627650" y="1394711"/>
                  </a:cubicBezTo>
                  <a:cubicBezTo>
                    <a:pt x="4626164" y="1396198"/>
                    <a:pt x="4624148" y="1397033"/>
                    <a:pt x="4622045" y="1397033"/>
                  </a:cubicBezTo>
                  <a:lnTo>
                    <a:pt x="7927" y="1397033"/>
                  </a:lnTo>
                  <a:cubicBezTo>
                    <a:pt x="3549" y="1397033"/>
                    <a:pt x="0" y="1393484"/>
                    <a:pt x="0" y="1389106"/>
                  </a:cubicBezTo>
                  <a:lnTo>
                    <a:pt x="0" y="7927"/>
                  </a:lnTo>
                  <a:cubicBezTo>
                    <a:pt x="0" y="3549"/>
                    <a:pt x="3549" y="0"/>
                    <a:pt x="7927" y="0"/>
                  </a:cubicBezTo>
                  <a:close/>
                </a:path>
              </a:pathLst>
            </a:custGeom>
            <a:solidFill>
              <a:srgbClr val="F1F5EE"/>
            </a:solidFill>
          </p:spPr>
        </p:sp>
        <p:sp>
          <p:nvSpPr>
            <p:cNvPr id="4" name="TextBox 4"/>
            <p:cNvSpPr txBox="1"/>
            <p:nvPr/>
          </p:nvSpPr>
          <p:spPr>
            <a:xfrm>
              <a:off x="0" y="-38100"/>
              <a:ext cx="4629973" cy="14351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460427" y="5048158"/>
            <a:ext cx="11473287" cy="4138147"/>
          </a:xfrm>
          <a:custGeom>
            <a:avLst/>
            <a:gdLst/>
            <a:ahLst/>
            <a:cxnLst/>
            <a:rect l="l" t="t" r="r" b="b"/>
            <a:pathLst>
              <a:path w="11473287" h="4138147">
                <a:moveTo>
                  <a:pt x="0" y="0"/>
                </a:moveTo>
                <a:lnTo>
                  <a:pt x="11473286" y="0"/>
                </a:lnTo>
                <a:lnTo>
                  <a:pt x="11473286" y="4138148"/>
                </a:lnTo>
                <a:lnTo>
                  <a:pt x="0" y="4138148"/>
                </a:lnTo>
                <a:lnTo>
                  <a:pt x="0" y="0"/>
                </a:lnTo>
                <a:close/>
              </a:path>
            </a:pathLst>
          </a:custGeom>
          <a:blipFill>
            <a:blip r:embed="rId2"/>
            <a:stretch>
              <a:fillRect t="-21731"/>
            </a:stretch>
          </a:blipFill>
        </p:spPr>
      </p:sp>
      <p:grpSp>
        <p:nvGrpSpPr>
          <p:cNvPr id="6" name="Group 6"/>
          <p:cNvGrpSpPr/>
          <p:nvPr/>
        </p:nvGrpSpPr>
        <p:grpSpPr>
          <a:xfrm>
            <a:off x="-1918259" y="0"/>
            <a:ext cx="7162479" cy="3123338"/>
            <a:chOff x="0" y="0"/>
            <a:chExt cx="1886414" cy="822607"/>
          </a:xfrm>
        </p:grpSpPr>
        <p:sp>
          <p:nvSpPr>
            <p:cNvPr id="7" name="Freeform 7"/>
            <p:cNvSpPr/>
            <p:nvPr/>
          </p:nvSpPr>
          <p:spPr>
            <a:xfrm>
              <a:off x="0" y="0"/>
              <a:ext cx="1886414" cy="822607"/>
            </a:xfrm>
            <a:custGeom>
              <a:avLst/>
              <a:gdLst/>
              <a:ahLst/>
              <a:cxnLst/>
              <a:rect l="l" t="t" r="r" b="b"/>
              <a:pathLst>
                <a:path w="1886414" h="822607">
                  <a:moveTo>
                    <a:pt x="55126" y="0"/>
                  </a:moveTo>
                  <a:lnTo>
                    <a:pt x="1831288" y="0"/>
                  </a:lnTo>
                  <a:cubicBezTo>
                    <a:pt x="1845909" y="0"/>
                    <a:pt x="1859930" y="5808"/>
                    <a:pt x="1870268" y="16146"/>
                  </a:cubicBezTo>
                  <a:cubicBezTo>
                    <a:pt x="1880607" y="26484"/>
                    <a:pt x="1886414" y="40506"/>
                    <a:pt x="1886414" y="55126"/>
                  </a:cubicBezTo>
                  <a:lnTo>
                    <a:pt x="1886414" y="767482"/>
                  </a:lnTo>
                  <a:cubicBezTo>
                    <a:pt x="1886414" y="782102"/>
                    <a:pt x="1880607" y="796123"/>
                    <a:pt x="1870268" y="806461"/>
                  </a:cubicBezTo>
                  <a:cubicBezTo>
                    <a:pt x="1859930" y="816800"/>
                    <a:pt x="1845909" y="822607"/>
                    <a:pt x="1831288" y="822607"/>
                  </a:cubicBezTo>
                  <a:lnTo>
                    <a:pt x="55126" y="822607"/>
                  </a:lnTo>
                  <a:cubicBezTo>
                    <a:pt x="24681" y="822607"/>
                    <a:pt x="0" y="797927"/>
                    <a:pt x="0" y="767482"/>
                  </a:cubicBezTo>
                  <a:lnTo>
                    <a:pt x="0" y="55126"/>
                  </a:lnTo>
                  <a:cubicBezTo>
                    <a:pt x="0" y="24681"/>
                    <a:pt x="24681" y="0"/>
                    <a:pt x="55126" y="0"/>
                  </a:cubicBezTo>
                  <a:close/>
                </a:path>
              </a:pathLst>
            </a:custGeom>
            <a:solidFill>
              <a:srgbClr val="98C299"/>
            </a:solidFill>
          </p:spPr>
        </p:sp>
        <p:sp>
          <p:nvSpPr>
            <p:cNvPr id="8" name="TextBox 8"/>
            <p:cNvSpPr txBox="1"/>
            <p:nvPr/>
          </p:nvSpPr>
          <p:spPr>
            <a:xfrm>
              <a:off x="0" y="0"/>
              <a:ext cx="1886414" cy="822607"/>
            </a:xfrm>
            <a:prstGeom prst="rect">
              <a:avLst/>
            </a:prstGeom>
          </p:spPr>
          <p:txBody>
            <a:bodyPr lIns="50800" tIns="50800" rIns="50800" bIns="50800" rtlCol="0" anchor="ctr"/>
            <a:lstStyle/>
            <a:p>
              <a:pPr algn="ctr">
                <a:lnSpc>
                  <a:spcPts val="2879"/>
                </a:lnSpc>
              </a:pPr>
              <a:endParaRPr/>
            </a:p>
          </p:txBody>
        </p:sp>
      </p:grpSp>
      <p:sp>
        <p:nvSpPr>
          <p:cNvPr id="9" name="TextBox 9"/>
          <p:cNvSpPr txBox="1"/>
          <p:nvPr/>
        </p:nvSpPr>
        <p:spPr>
          <a:xfrm>
            <a:off x="433328" y="602572"/>
            <a:ext cx="4205385" cy="2282641"/>
          </a:xfrm>
          <a:prstGeom prst="rect">
            <a:avLst/>
          </a:prstGeom>
        </p:spPr>
        <p:txBody>
          <a:bodyPr lIns="0" tIns="0" rIns="0" bIns="0" rtlCol="0" anchor="t">
            <a:spAutoFit/>
          </a:bodyPr>
          <a:lstStyle/>
          <a:p>
            <a:pPr marL="0" lvl="0" indent="0" algn="l">
              <a:lnSpc>
                <a:spcPts val="5897"/>
              </a:lnSpc>
            </a:pPr>
            <a:r>
              <a:rPr lang="en-US" sz="5897" spc="-176">
                <a:solidFill>
                  <a:srgbClr val="F1F5EE"/>
                </a:solidFill>
                <a:latin typeface="DM Sans"/>
                <a:ea typeface="DM Sans"/>
                <a:cs typeface="DM Sans"/>
                <a:sym typeface="DM Sans"/>
              </a:rPr>
              <a:t>Restaurant Performance Overview</a:t>
            </a:r>
          </a:p>
        </p:txBody>
      </p:sp>
      <p:grpSp>
        <p:nvGrpSpPr>
          <p:cNvPr id="10" name="Group 10"/>
          <p:cNvGrpSpPr/>
          <p:nvPr/>
        </p:nvGrpSpPr>
        <p:grpSpPr>
          <a:xfrm>
            <a:off x="-348752" y="3342351"/>
            <a:ext cx="6666929" cy="903627"/>
            <a:chOff x="0" y="0"/>
            <a:chExt cx="1755899" cy="237992"/>
          </a:xfrm>
        </p:grpSpPr>
        <p:sp>
          <p:nvSpPr>
            <p:cNvPr id="11" name="Freeform 11"/>
            <p:cNvSpPr/>
            <p:nvPr/>
          </p:nvSpPr>
          <p:spPr>
            <a:xfrm>
              <a:off x="0" y="0"/>
              <a:ext cx="1755899" cy="237992"/>
            </a:xfrm>
            <a:custGeom>
              <a:avLst/>
              <a:gdLst/>
              <a:ahLst/>
              <a:cxnLst/>
              <a:rect l="l" t="t" r="r" b="b"/>
              <a:pathLst>
                <a:path w="1755899" h="237992">
                  <a:moveTo>
                    <a:pt x="59223" y="0"/>
                  </a:moveTo>
                  <a:lnTo>
                    <a:pt x="1696676" y="0"/>
                  </a:lnTo>
                  <a:cubicBezTo>
                    <a:pt x="1712383" y="0"/>
                    <a:pt x="1727446" y="6240"/>
                    <a:pt x="1738553" y="17346"/>
                  </a:cubicBezTo>
                  <a:cubicBezTo>
                    <a:pt x="1749659" y="28453"/>
                    <a:pt x="1755899" y="43516"/>
                    <a:pt x="1755899" y="59223"/>
                  </a:cubicBezTo>
                  <a:lnTo>
                    <a:pt x="1755899" y="178769"/>
                  </a:lnTo>
                  <a:cubicBezTo>
                    <a:pt x="1755899" y="194476"/>
                    <a:pt x="1749659" y="209540"/>
                    <a:pt x="1738553" y="220646"/>
                  </a:cubicBezTo>
                  <a:cubicBezTo>
                    <a:pt x="1727446" y="231753"/>
                    <a:pt x="1712383" y="237992"/>
                    <a:pt x="1696676" y="237992"/>
                  </a:cubicBezTo>
                  <a:lnTo>
                    <a:pt x="59223" y="237992"/>
                  </a:lnTo>
                  <a:cubicBezTo>
                    <a:pt x="43516" y="237992"/>
                    <a:pt x="28453" y="231753"/>
                    <a:pt x="17346" y="220646"/>
                  </a:cubicBezTo>
                  <a:cubicBezTo>
                    <a:pt x="6240" y="209540"/>
                    <a:pt x="0" y="194476"/>
                    <a:pt x="0" y="178769"/>
                  </a:cubicBezTo>
                  <a:lnTo>
                    <a:pt x="0" y="59223"/>
                  </a:lnTo>
                  <a:cubicBezTo>
                    <a:pt x="0" y="43516"/>
                    <a:pt x="6240" y="28453"/>
                    <a:pt x="17346" y="17346"/>
                  </a:cubicBezTo>
                  <a:cubicBezTo>
                    <a:pt x="28453" y="6240"/>
                    <a:pt x="43516" y="0"/>
                    <a:pt x="59223" y="0"/>
                  </a:cubicBezTo>
                  <a:close/>
                </a:path>
              </a:pathLst>
            </a:custGeom>
            <a:solidFill>
              <a:srgbClr val="6AAE7C"/>
            </a:solidFill>
          </p:spPr>
        </p:sp>
        <p:sp>
          <p:nvSpPr>
            <p:cNvPr id="12" name="TextBox 12"/>
            <p:cNvSpPr txBox="1"/>
            <p:nvPr/>
          </p:nvSpPr>
          <p:spPr>
            <a:xfrm>
              <a:off x="0" y="0"/>
              <a:ext cx="1755899"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Orders over time by month</a:t>
              </a:r>
            </a:p>
          </p:txBody>
        </p:sp>
      </p:grpSp>
      <p:sp>
        <p:nvSpPr>
          <p:cNvPr id="13" name="TextBox 13"/>
          <p:cNvSpPr txBox="1"/>
          <p:nvPr/>
        </p:nvSpPr>
        <p:spPr>
          <a:xfrm>
            <a:off x="701411" y="5793413"/>
            <a:ext cx="5934114" cy="2391602"/>
          </a:xfrm>
          <a:prstGeom prst="rect">
            <a:avLst/>
          </a:prstGeom>
        </p:spPr>
        <p:txBody>
          <a:bodyPr lIns="0" tIns="0" rIns="0" bIns="0" rtlCol="0" anchor="t">
            <a:spAutoFit/>
          </a:bodyPr>
          <a:lstStyle/>
          <a:p>
            <a:pPr marL="0" lvl="0" indent="0" algn="l">
              <a:lnSpc>
                <a:spcPts val="3173"/>
              </a:lnSpc>
            </a:pPr>
            <a:r>
              <a:rPr lang="en-US" sz="2644" u="none" strike="noStrike">
                <a:solidFill>
                  <a:srgbClr val="3A6A47"/>
                </a:solidFill>
                <a:latin typeface="DM Sans"/>
                <a:ea typeface="DM Sans"/>
                <a:cs typeface="DM Sans"/>
                <a:sym typeface="DM Sans"/>
              </a:rPr>
              <a:t>The restaurant recorded approximately 1.8K orders in January, followed by a slight decrease in February (1.65K orders), before recovering again in March (1.8K orders).</a:t>
            </a:r>
          </a:p>
        </p:txBody>
      </p:sp>
      <p:sp>
        <p:nvSpPr>
          <p:cNvPr id="14" name="TextBox 14"/>
          <p:cNvSpPr txBox="1"/>
          <p:nvPr/>
        </p:nvSpPr>
        <p:spPr>
          <a:xfrm>
            <a:off x="17329544" y="9569683"/>
            <a:ext cx="190979" cy="374417"/>
          </a:xfrm>
          <a:prstGeom prst="rect">
            <a:avLst/>
          </a:prstGeom>
        </p:spPr>
        <p:txBody>
          <a:bodyPr lIns="0" tIns="0" rIns="0" bIns="0" rtlCol="0" anchor="t">
            <a:spAutoFit/>
          </a:bodyPr>
          <a:lstStyle/>
          <a:p>
            <a:pPr algn="ctr">
              <a:lnSpc>
                <a:spcPts val="2948"/>
              </a:lnSpc>
              <a:spcBef>
                <a:spcPct val="0"/>
              </a:spcBef>
            </a:pPr>
            <a:r>
              <a:rPr lang="en-US" sz="2456">
                <a:solidFill>
                  <a:srgbClr val="3A6A47"/>
                </a:solidFill>
                <a:latin typeface="DM Sans"/>
                <a:ea typeface="DM Sans"/>
                <a:cs typeface="DM Sans"/>
                <a:sym typeface="DM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125664" y="4544677"/>
            <a:ext cx="17904611" cy="4537206"/>
            <a:chOff x="0" y="0"/>
            <a:chExt cx="4715618" cy="1194984"/>
          </a:xfrm>
        </p:grpSpPr>
        <p:sp>
          <p:nvSpPr>
            <p:cNvPr id="3" name="Freeform 3">
              <a:extLst>
                <a:ext uri="{C183D7F6-B498-43B3-948B-1728B52AA6E4}">
                  <adec:decorative xmlns:adec="http://schemas.microsoft.com/office/drawing/2017/decorative" val="1"/>
                </a:ext>
              </a:extLst>
            </p:cNvPr>
            <p:cNvSpPr/>
            <p:nvPr/>
          </p:nvSpPr>
          <p:spPr>
            <a:xfrm>
              <a:off x="0" y="0"/>
              <a:ext cx="4715618" cy="1194984"/>
            </a:xfrm>
            <a:custGeom>
              <a:avLst/>
              <a:gdLst/>
              <a:ahLst/>
              <a:cxnLst/>
              <a:rect l="l" t="t" r="r" b="b"/>
              <a:pathLst>
                <a:path w="4715618" h="1194984">
                  <a:moveTo>
                    <a:pt x="7783" y="0"/>
                  </a:moveTo>
                  <a:lnTo>
                    <a:pt x="4707834" y="0"/>
                  </a:lnTo>
                  <a:cubicBezTo>
                    <a:pt x="4709899" y="0"/>
                    <a:pt x="4711878" y="820"/>
                    <a:pt x="4713338" y="2280"/>
                  </a:cubicBezTo>
                  <a:cubicBezTo>
                    <a:pt x="4714797" y="3739"/>
                    <a:pt x="4715618" y="5719"/>
                    <a:pt x="4715618" y="7783"/>
                  </a:cubicBezTo>
                  <a:lnTo>
                    <a:pt x="4715618" y="1187201"/>
                  </a:lnTo>
                  <a:cubicBezTo>
                    <a:pt x="4715618" y="1189265"/>
                    <a:pt x="4714797" y="1191245"/>
                    <a:pt x="4713338" y="1192705"/>
                  </a:cubicBezTo>
                  <a:cubicBezTo>
                    <a:pt x="4711878" y="1194164"/>
                    <a:pt x="4709899" y="1194984"/>
                    <a:pt x="4707834" y="1194984"/>
                  </a:cubicBezTo>
                  <a:lnTo>
                    <a:pt x="7783" y="1194984"/>
                  </a:lnTo>
                  <a:cubicBezTo>
                    <a:pt x="5719" y="1194984"/>
                    <a:pt x="3739" y="1194164"/>
                    <a:pt x="2280" y="1192705"/>
                  </a:cubicBezTo>
                  <a:cubicBezTo>
                    <a:pt x="820" y="1191245"/>
                    <a:pt x="0" y="1189265"/>
                    <a:pt x="0" y="1187201"/>
                  </a:cubicBezTo>
                  <a:lnTo>
                    <a:pt x="0" y="7783"/>
                  </a:lnTo>
                  <a:cubicBezTo>
                    <a:pt x="0" y="5719"/>
                    <a:pt x="820" y="3739"/>
                    <a:pt x="2280" y="2280"/>
                  </a:cubicBezTo>
                  <a:cubicBezTo>
                    <a:pt x="3739" y="820"/>
                    <a:pt x="5719" y="0"/>
                    <a:pt x="7783" y="0"/>
                  </a:cubicBezTo>
                  <a:close/>
                </a:path>
              </a:pathLst>
            </a:custGeom>
            <a:solidFill>
              <a:srgbClr val="F1F5EE"/>
            </a:solidFill>
          </p:spPr>
        </p:sp>
        <p:sp>
          <p:nvSpPr>
            <p:cNvPr id="4" name="TextBox 4"/>
            <p:cNvSpPr txBox="1"/>
            <p:nvPr/>
          </p:nvSpPr>
          <p:spPr>
            <a:xfrm>
              <a:off x="0" y="-38100"/>
              <a:ext cx="4715618" cy="12330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918259" y="0"/>
            <a:ext cx="7567685" cy="3143978"/>
            <a:chOff x="0" y="0"/>
            <a:chExt cx="1993135" cy="828044"/>
          </a:xfrm>
        </p:grpSpPr>
        <p:sp>
          <p:nvSpPr>
            <p:cNvPr id="6" name="Freeform 6"/>
            <p:cNvSpPr/>
            <p:nvPr/>
          </p:nvSpPr>
          <p:spPr>
            <a:xfrm>
              <a:off x="0" y="0"/>
              <a:ext cx="1993135" cy="828044"/>
            </a:xfrm>
            <a:custGeom>
              <a:avLst/>
              <a:gdLst/>
              <a:ahLst/>
              <a:cxnLst/>
              <a:rect l="l" t="t" r="r" b="b"/>
              <a:pathLst>
                <a:path w="1993135" h="828044">
                  <a:moveTo>
                    <a:pt x="52174" y="0"/>
                  </a:moveTo>
                  <a:lnTo>
                    <a:pt x="1940961" y="0"/>
                  </a:lnTo>
                  <a:cubicBezTo>
                    <a:pt x="1954798" y="0"/>
                    <a:pt x="1968069" y="5497"/>
                    <a:pt x="1977854" y="15281"/>
                  </a:cubicBezTo>
                  <a:cubicBezTo>
                    <a:pt x="1987638" y="25066"/>
                    <a:pt x="1993135" y="38337"/>
                    <a:pt x="1993135" y="52174"/>
                  </a:cubicBezTo>
                  <a:lnTo>
                    <a:pt x="1993135" y="775869"/>
                  </a:lnTo>
                  <a:cubicBezTo>
                    <a:pt x="1993135" y="789707"/>
                    <a:pt x="1987638" y="802978"/>
                    <a:pt x="1977854" y="812762"/>
                  </a:cubicBezTo>
                  <a:cubicBezTo>
                    <a:pt x="1968069" y="822547"/>
                    <a:pt x="1954798" y="828044"/>
                    <a:pt x="1940961" y="828044"/>
                  </a:cubicBezTo>
                  <a:lnTo>
                    <a:pt x="52174" y="828044"/>
                  </a:lnTo>
                  <a:cubicBezTo>
                    <a:pt x="38337" y="828044"/>
                    <a:pt x="25066" y="822547"/>
                    <a:pt x="15281" y="812762"/>
                  </a:cubicBezTo>
                  <a:cubicBezTo>
                    <a:pt x="5497" y="802978"/>
                    <a:pt x="0" y="789707"/>
                    <a:pt x="0" y="775869"/>
                  </a:cubicBezTo>
                  <a:lnTo>
                    <a:pt x="0" y="52174"/>
                  </a:lnTo>
                  <a:cubicBezTo>
                    <a:pt x="0" y="38337"/>
                    <a:pt x="5497" y="25066"/>
                    <a:pt x="15281" y="15281"/>
                  </a:cubicBezTo>
                  <a:cubicBezTo>
                    <a:pt x="25066" y="5497"/>
                    <a:pt x="38337" y="0"/>
                    <a:pt x="52174" y="0"/>
                  </a:cubicBezTo>
                  <a:close/>
                </a:path>
              </a:pathLst>
            </a:custGeom>
            <a:solidFill>
              <a:srgbClr val="98C299"/>
            </a:solidFill>
          </p:spPr>
        </p:sp>
        <p:sp>
          <p:nvSpPr>
            <p:cNvPr id="7" name="TextBox 7"/>
            <p:cNvSpPr txBox="1"/>
            <p:nvPr/>
          </p:nvSpPr>
          <p:spPr>
            <a:xfrm>
              <a:off x="0" y="0"/>
              <a:ext cx="1993135" cy="828044"/>
            </a:xfrm>
            <a:prstGeom prst="rect">
              <a:avLst/>
            </a:prstGeom>
          </p:spPr>
          <p:txBody>
            <a:bodyPr lIns="50800" tIns="50800" rIns="50800" bIns="50800" rtlCol="0" anchor="ctr"/>
            <a:lstStyle/>
            <a:p>
              <a:pPr algn="ctr">
                <a:lnSpc>
                  <a:spcPts val="2879"/>
                </a:lnSpc>
              </a:pPr>
              <a:endParaRPr/>
            </a:p>
          </p:txBody>
        </p:sp>
      </p:grpSp>
      <p:sp>
        <p:nvSpPr>
          <p:cNvPr id="8" name="Freeform 8"/>
          <p:cNvSpPr/>
          <p:nvPr/>
        </p:nvSpPr>
        <p:spPr>
          <a:xfrm>
            <a:off x="125664" y="4741035"/>
            <a:ext cx="11047523" cy="3963031"/>
          </a:xfrm>
          <a:custGeom>
            <a:avLst/>
            <a:gdLst/>
            <a:ahLst/>
            <a:cxnLst/>
            <a:rect l="l" t="t" r="r" b="b"/>
            <a:pathLst>
              <a:path w="11047523" h="3963031">
                <a:moveTo>
                  <a:pt x="0" y="0"/>
                </a:moveTo>
                <a:lnTo>
                  <a:pt x="11047522" y="0"/>
                </a:lnTo>
                <a:lnTo>
                  <a:pt x="11047522" y="3963031"/>
                </a:lnTo>
                <a:lnTo>
                  <a:pt x="0" y="3963031"/>
                </a:lnTo>
                <a:lnTo>
                  <a:pt x="0" y="0"/>
                </a:lnTo>
                <a:close/>
              </a:path>
            </a:pathLst>
          </a:custGeom>
          <a:blipFill>
            <a:blip r:embed="rId2"/>
            <a:stretch>
              <a:fillRect/>
            </a:stretch>
          </a:blipFill>
        </p:spPr>
      </p:sp>
      <p:sp>
        <p:nvSpPr>
          <p:cNvPr id="9" name="TextBox 9"/>
          <p:cNvSpPr txBox="1"/>
          <p:nvPr/>
        </p:nvSpPr>
        <p:spPr>
          <a:xfrm>
            <a:off x="433328" y="369298"/>
            <a:ext cx="4654692" cy="2529207"/>
          </a:xfrm>
          <a:prstGeom prst="rect">
            <a:avLst/>
          </a:prstGeom>
        </p:spPr>
        <p:txBody>
          <a:bodyPr lIns="0" tIns="0" rIns="0" bIns="0" rtlCol="0" anchor="t">
            <a:spAutoFit/>
          </a:bodyPr>
          <a:lstStyle/>
          <a:p>
            <a:pPr marL="0" lvl="0" indent="0" algn="l">
              <a:lnSpc>
                <a:spcPts val="6528"/>
              </a:lnSpc>
            </a:pPr>
            <a:r>
              <a:rPr lang="en-US" sz="6528" spc="-195">
                <a:solidFill>
                  <a:srgbClr val="F1F5EE"/>
                </a:solidFill>
                <a:latin typeface="DM Sans"/>
                <a:ea typeface="DM Sans"/>
                <a:cs typeface="DM Sans"/>
                <a:sym typeface="DM Sans"/>
              </a:rPr>
              <a:t>Restaurant Performance Overview</a:t>
            </a:r>
          </a:p>
        </p:txBody>
      </p:sp>
      <p:sp>
        <p:nvSpPr>
          <p:cNvPr id="10" name="TextBox 10"/>
          <p:cNvSpPr txBox="1"/>
          <p:nvPr/>
        </p:nvSpPr>
        <p:spPr>
          <a:xfrm>
            <a:off x="11564528" y="5903731"/>
            <a:ext cx="6144990" cy="1637639"/>
          </a:xfrm>
          <a:prstGeom prst="rect">
            <a:avLst/>
          </a:prstGeom>
        </p:spPr>
        <p:txBody>
          <a:bodyPr lIns="0" tIns="0" rIns="0" bIns="0" rtlCol="0" anchor="t">
            <a:spAutoFit/>
          </a:bodyPr>
          <a:lstStyle/>
          <a:p>
            <a:pPr marL="0" lvl="0" indent="0" algn="l">
              <a:lnSpc>
                <a:spcPts val="3223"/>
              </a:lnSpc>
            </a:pPr>
            <a:r>
              <a:rPr lang="en-US" sz="2686">
                <a:solidFill>
                  <a:srgbClr val="3A6A47"/>
                </a:solidFill>
                <a:latin typeface="DM Sans"/>
                <a:ea typeface="DM Sans"/>
                <a:cs typeface="DM Sans"/>
                <a:sym typeface="DM Sans"/>
              </a:rPr>
              <a:t>A recurr</a:t>
            </a:r>
            <a:r>
              <a:rPr lang="en-US" sz="2686" u="none" strike="noStrike">
                <a:solidFill>
                  <a:srgbClr val="3A6A47"/>
                </a:solidFill>
                <a:latin typeface="DM Sans"/>
                <a:ea typeface="DM Sans"/>
                <a:cs typeface="DM Sans"/>
                <a:sym typeface="DM Sans"/>
              </a:rPr>
              <a:t>ing pattern is observed where orders peak at the beginning of each month,  while sales consistently decline toward the end of the month.</a:t>
            </a:r>
          </a:p>
        </p:txBody>
      </p:sp>
      <p:grpSp>
        <p:nvGrpSpPr>
          <p:cNvPr id="11" name="Group 11"/>
          <p:cNvGrpSpPr/>
          <p:nvPr/>
        </p:nvGrpSpPr>
        <p:grpSpPr>
          <a:xfrm>
            <a:off x="-426545" y="3290350"/>
            <a:ext cx="6666929" cy="903627"/>
            <a:chOff x="0" y="0"/>
            <a:chExt cx="1755899" cy="237992"/>
          </a:xfrm>
        </p:grpSpPr>
        <p:sp>
          <p:nvSpPr>
            <p:cNvPr id="12" name="Freeform 12"/>
            <p:cNvSpPr/>
            <p:nvPr/>
          </p:nvSpPr>
          <p:spPr>
            <a:xfrm>
              <a:off x="0" y="0"/>
              <a:ext cx="1755899" cy="237992"/>
            </a:xfrm>
            <a:custGeom>
              <a:avLst/>
              <a:gdLst/>
              <a:ahLst/>
              <a:cxnLst/>
              <a:rect l="l" t="t" r="r" b="b"/>
              <a:pathLst>
                <a:path w="1755899" h="237992">
                  <a:moveTo>
                    <a:pt x="59223" y="0"/>
                  </a:moveTo>
                  <a:lnTo>
                    <a:pt x="1696676" y="0"/>
                  </a:lnTo>
                  <a:cubicBezTo>
                    <a:pt x="1712383" y="0"/>
                    <a:pt x="1727446" y="6240"/>
                    <a:pt x="1738553" y="17346"/>
                  </a:cubicBezTo>
                  <a:cubicBezTo>
                    <a:pt x="1749659" y="28453"/>
                    <a:pt x="1755899" y="43516"/>
                    <a:pt x="1755899" y="59223"/>
                  </a:cubicBezTo>
                  <a:lnTo>
                    <a:pt x="1755899" y="178769"/>
                  </a:lnTo>
                  <a:cubicBezTo>
                    <a:pt x="1755899" y="194476"/>
                    <a:pt x="1749659" y="209540"/>
                    <a:pt x="1738553" y="220646"/>
                  </a:cubicBezTo>
                  <a:cubicBezTo>
                    <a:pt x="1727446" y="231753"/>
                    <a:pt x="1712383" y="237992"/>
                    <a:pt x="1696676" y="237992"/>
                  </a:cubicBezTo>
                  <a:lnTo>
                    <a:pt x="59223" y="237992"/>
                  </a:lnTo>
                  <a:cubicBezTo>
                    <a:pt x="43516" y="237992"/>
                    <a:pt x="28453" y="231753"/>
                    <a:pt x="17346" y="220646"/>
                  </a:cubicBezTo>
                  <a:cubicBezTo>
                    <a:pt x="6240" y="209540"/>
                    <a:pt x="0" y="194476"/>
                    <a:pt x="0" y="178769"/>
                  </a:cubicBezTo>
                  <a:lnTo>
                    <a:pt x="0" y="59223"/>
                  </a:lnTo>
                  <a:cubicBezTo>
                    <a:pt x="0" y="43516"/>
                    <a:pt x="6240" y="28453"/>
                    <a:pt x="17346" y="17346"/>
                  </a:cubicBezTo>
                  <a:cubicBezTo>
                    <a:pt x="28453" y="6240"/>
                    <a:pt x="43516" y="0"/>
                    <a:pt x="59223" y="0"/>
                  </a:cubicBezTo>
                  <a:close/>
                </a:path>
              </a:pathLst>
            </a:custGeom>
            <a:solidFill>
              <a:srgbClr val="6AAE7C"/>
            </a:solidFill>
          </p:spPr>
        </p:sp>
        <p:sp>
          <p:nvSpPr>
            <p:cNvPr id="13" name="TextBox 13"/>
            <p:cNvSpPr txBox="1"/>
            <p:nvPr/>
          </p:nvSpPr>
          <p:spPr>
            <a:xfrm>
              <a:off x="0" y="0"/>
              <a:ext cx="1755899"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Orders over time by day</a:t>
              </a:r>
            </a:p>
          </p:txBody>
        </p:sp>
      </p:grpSp>
      <p:sp>
        <p:nvSpPr>
          <p:cNvPr id="14" name="TextBox 14"/>
          <p:cNvSpPr txBox="1"/>
          <p:nvPr/>
        </p:nvSpPr>
        <p:spPr>
          <a:xfrm>
            <a:off x="17350267" y="9600526"/>
            <a:ext cx="175376" cy="343574"/>
          </a:xfrm>
          <a:prstGeom prst="rect">
            <a:avLst/>
          </a:prstGeom>
        </p:spPr>
        <p:txBody>
          <a:bodyPr lIns="0" tIns="0" rIns="0" bIns="0" rtlCol="0" anchor="t">
            <a:spAutoFit/>
          </a:bodyPr>
          <a:lstStyle/>
          <a:p>
            <a:pPr algn="ctr">
              <a:lnSpc>
                <a:spcPts val="2630"/>
              </a:lnSpc>
              <a:spcBef>
                <a:spcPct val="0"/>
              </a:spcBef>
            </a:pPr>
            <a:r>
              <a:rPr lang="en-US" sz="2191">
                <a:solidFill>
                  <a:srgbClr val="FEFFFF"/>
                </a:solidFill>
                <a:latin typeface="DM Sans"/>
                <a:ea typeface="DM Sans"/>
                <a:cs typeface="DM Sans"/>
                <a:sym typeface="DM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366148" y="6650790"/>
            <a:ext cx="6951012" cy="2607510"/>
            <a:chOff x="0" y="0"/>
            <a:chExt cx="5106539" cy="1915599"/>
          </a:xfrm>
        </p:grpSpPr>
        <p:sp>
          <p:nvSpPr>
            <p:cNvPr id="3" name="Freeform 3">
              <a:extLst>
                <a:ext uri="{C183D7F6-B498-43B3-948B-1728B52AA6E4}">
                  <adec:decorative xmlns:adec="http://schemas.microsoft.com/office/drawing/2017/decorative" val="1"/>
                </a:ext>
              </a:extLst>
            </p:cNvPr>
            <p:cNvSpPr/>
            <p:nvPr/>
          </p:nvSpPr>
          <p:spPr>
            <a:xfrm>
              <a:off x="0" y="0"/>
              <a:ext cx="5106539" cy="1915599"/>
            </a:xfrm>
            <a:custGeom>
              <a:avLst/>
              <a:gdLst/>
              <a:ahLst/>
              <a:cxnLst/>
              <a:rect l="l" t="t" r="r" b="b"/>
              <a:pathLst>
                <a:path w="5106539" h="1915599">
                  <a:moveTo>
                    <a:pt x="4982079" y="1915599"/>
                  </a:moveTo>
                  <a:lnTo>
                    <a:pt x="124460" y="1915599"/>
                  </a:lnTo>
                  <a:cubicBezTo>
                    <a:pt x="55880" y="1915599"/>
                    <a:pt x="0" y="1859719"/>
                    <a:pt x="0" y="1791139"/>
                  </a:cubicBezTo>
                  <a:lnTo>
                    <a:pt x="0" y="124460"/>
                  </a:lnTo>
                  <a:cubicBezTo>
                    <a:pt x="0" y="55880"/>
                    <a:pt x="55880" y="0"/>
                    <a:pt x="124460" y="0"/>
                  </a:cubicBezTo>
                  <a:lnTo>
                    <a:pt x="4982079" y="0"/>
                  </a:lnTo>
                  <a:cubicBezTo>
                    <a:pt x="5050659" y="0"/>
                    <a:pt x="5106539" y="55880"/>
                    <a:pt x="5106539" y="124460"/>
                  </a:cubicBezTo>
                  <a:lnTo>
                    <a:pt x="5106539" y="1791139"/>
                  </a:lnTo>
                  <a:cubicBezTo>
                    <a:pt x="5106539" y="1859719"/>
                    <a:pt x="5050659" y="1915599"/>
                    <a:pt x="4982079" y="1915599"/>
                  </a:cubicBezTo>
                  <a:close/>
                </a:path>
              </a:pathLst>
            </a:custGeom>
            <a:solidFill>
              <a:srgbClr val="3A6A47"/>
            </a:solidFill>
          </p:spPr>
        </p:sp>
      </p:grpSp>
      <p:grpSp>
        <p:nvGrpSpPr>
          <p:cNvPr id="4" name="Group 4"/>
          <p:cNvGrpSpPr/>
          <p:nvPr/>
        </p:nvGrpSpPr>
        <p:grpSpPr>
          <a:xfrm>
            <a:off x="-787971" y="701650"/>
            <a:ext cx="5769546" cy="903627"/>
            <a:chOff x="0" y="0"/>
            <a:chExt cx="1519551" cy="237992"/>
          </a:xfrm>
        </p:grpSpPr>
        <p:sp>
          <p:nvSpPr>
            <p:cNvPr id="5" name="Freeform 5"/>
            <p:cNvSpPr/>
            <p:nvPr/>
          </p:nvSpPr>
          <p:spPr>
            <a:xfrm>
              <a:off x="0" y="0"/>
              <a:ext cx="1519551" cy="237992"/>
            </a:xfrm>
            <a:custGeom>
              <a:avLst/>
              <a:gdLst/>
              <a:ahLst/>
              <a:cxnLst/>
              <a:rect l="l" t="t" r="r" b="b"/>
              <a:pathLst>
                <a:path w="1519551" h="237992">
                  <a:moveTo>
                    <a:pt x="68435" y="0"/>
                  </a:moveTo>
                  <a:lnTo>
                    <a:pt x="1451117" y="0"/>
                  </a:lnTo>
                  <a:cubicBezTo>
                    <a:pt x="1469267" y="0"/>
                    <a:pt x="1486673" y="7210"/>
                    <a:pt x="1499507" y="20044"/>
                  </a:cubicBezTo>
                  <a:cubicBezTo>
                    <a:pt x="1512341" y="32878"/>
                    <a:pt x="1519551" y="50285"/>
                    <a:pt x="1519551" y="68435"/>
                  </a:cubicBezTo>
                  <a:lnTo>
                    <a:pt x="1519551" y="169557"/>
                  </a:lnTo>
                  <a:cubicBezTo>
                    <a:pt x="1519551" y="187707"/>
                    <a:pt x="1512341" y="205114"/>
                    <a:pt x="1499507" y="217948"/>
                  </a:cubicBezTo>
                  <a:cubicBezTo>
                    <a:pt x="1486673" y="230782"/>
                    <a:pt x="1469267" y="237992"/>
                    <a:pt x="1451117" y="237992"/>
                  </a:cubicBezTo>
                  <a:lnTo>
                    <a:pt x="68435" y="237992"/>
                  </a:lnTo>
                  <a:cubicBezTo>
                    <a:pt x="50285" y="237992"/>
                    <a:pt x="32878" y="230782"/>
                    <a:pt x="20044" y="217948"/>
                  </a:cubicBezTo>
                  <a:cubicBezTo>
                    <a:pt x="7210" y="205114"/>
                    <a:pt x="0" y="187707"/>
                    <a:pt x="0" y="169557"/>
                  </a:cubicBezTo>
                  <a:lnTo>
                    <a:pt x="0" y="68435"/>
                  </a:lnTo>
                  <a:cubicBezTo>
                    <a:pt x="0" y="50285"/>
                    <a:pt x="7210" y="32878"/>
                    <a:pt x="20044" y="20044"/>
                  </a:cubicBezTo>
                  <a:cubicBezTo>
                    <a:pt x="32878" y="7210"/>
                    <a:pt x="50285" y="0"/>
                    <a:pt x="68435" y="0"/>
                  </a:cubicBezTo>
                  <a:close/>
                </a:path>
              </a:pathLst>
            </a:custGeom>
            <a:solidFill>
              <a:srgbClr val="6AAE7C"/>
            </a:solidFill>
          </p:spPr>
        </p:sp>
        <p:sp>
          <p:nvSpPr>
            <p:cNvPr id="6" name="TextBox 6"/>
            <p:cNvSpPr txBox="1"/>
            <p:nvPr/>
          </p:nvSpPr>
          <p:spPr>
            <a:xfrm>
              <a:off x="0" y="0"/>
              <a:ext cx="1519551"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Items sold over time</a:t>
              </a:r>
            </a:p>
          </p:txBody>
        </p:sp>
      </p:grpSp>
      <p:sp>
        <p:nvSpPr>
          <p:cNvPr id="7" name="Freeform 7"/>
          <p:cNvSpPr/>
          <p:nvPr/>
        </p:nvSpPr>
        <p:spPr>
          <a:xfrm>
            <a:off x="8079212" y="1339894"/>
            <a:ext cx="10012088" cy="3588256"/>
          </a:xfrm>
          <a:custGeom>
            <a:avLst/>
            <a:gdLst/>
            <a:ahLst/>
            <a:cxnLst/>
            <a:rect l="l" t="t" r="r" b="b"/>
            <a:pathLst>
              <a:path w="10012088" h="3588256">
                <a:moveTo>
                  <a:pt x="0" y="0"/>
                </a:moveTo>
                <a:lnTo>
                  <a:pt x="10012088" y="0"/>
                </a:lnTo>
                <a:lnTo>
                  <a:pt x="10012088" y="3588256"/>
                </a:lnTo>
                <a:lnTo>
                  <a:pt x="0" y="3588256"/>
                </a:lnTo>
                <a:lnTo>
                  <a:pt x="0" y="0"/>
                </a:lnTo>
                <a:close/>
              </a:path>
            </a:pathLst>
          </a:custGeom>
          <a:blipFill>
            <a:blip r:embed="rId2"/>
            <a:stretch>
              <a:fillRect r="-10274"/>
            </a:stretch>
          </a:blipFill>
        </p:spPr>
      </p:sp>
      <p:sp>
        <p:nvSpPr>
          <p:cNvPr id="8" name="Freeform 8"/>
          <p:cNvSpPr/>
          <p:nvPr/>
        </p:nvSpPr>
        <p:spPr>
          <a:xfrm>
            <a:off x="8079212" y="5631512"/>
            <a:ext cx="10057424" cy="3626788"/>
          </a:xfrm>
          <a:custGeom>
            <a:avLst/>
            <a:gdLst/>
            <a:ahLst/>
            <a:cxnLst/>
            <a:rect l="l" t="t" r="r" b="b"/>
            <a:pathLst>
              <a:path w="10057424" h="3626788">
                <a:moveTo>
                  <a:pt x="0" y="0"/>
                </a:moveTo>
                <a:lnTo>
                  <a:pt x="10057424" y="0"/>
                </a:lnTo>
                <a:lnTo>
                  <a:pt x="10057424" y="3626788"/>
                </a:lnTo>
                <a:lnTo>
                  <a:pt x="0" y="3626788"/>
                </a:lnTo>
                <a:lnTo>
                  <a:pt x="0" y="0"/>
                </a:lnTo>
                <a:close/>
              </a:path>
            </a:pathLst>
          </a:custGeom>
          <a:blipFill>
            <a:blip r:embed="rId3"/>
            <a:stretch>
              <a:fillRect r="-9710"/>
            </a:stretch>
          </a:blipFill>
        </p:spPr>
      </p:sp>
      <p:sp>
        <p:nvSpPr>
          <p:cNvPr id="9" name="TextBox 9"/>
          <p:cNvSpPr txBox="1"/>
          <p:nvPr/>
        </p:nvSpPr>
        <p:spPr>
          <a:xfrm>
            <a:off x="163448" y="2078660"/>
            <a:ext cx="7356412" cy="3771900"/>
          </a:xfrm>
          <a:prstGeom prst="rect">
            <a:avLst/>
          </a:prstGeom>
        </p:spPr>
        <p:txBody>
          <a:bodyPr lIns="0" tIns="0" rIns="0" bIns="0" rtlCol="0" anchor="t">
            <a:spAutoFit/>
          </a:bodyPr>
          <a:lstStyle/>
          <a:p>
            <a:pPr marL="603579" lvl="1" indent="-301789" algn="l">
              <a:lnSpc>
                <a:spcPts val="3354"/>
              </a:lnSpc>
              <a:buFont typeface="Arial"/>
              <a:buChar char="•"/>
            </a:pPr>
            <a:r>
              <a:rPr lang="en-US" sz="2795" b="1">
                <a:solidFill>
                  <a:srgbClr val="3A6A47"/>
                </a:solidFill>
                <a:latin typeface="DM Sans Bold"/>
                <a:ea typeface="DM Sans Bold"/>
                <a:cs typeface="DM Sans Bold"/>
                <a:sym typeface="DM Sans Bold"/>
              </a:rPr>
              <a:t>In terms of volume, January recorded </a:t>
            </a:r>
            <a:r>
              <a:rPr lang="en-US" sz="2795">
                <a:solidFill>
                  <a:srgbClr val="3A6A47"/>
                </a:solidFill>
                <a:latin typeface="DM Sans"/>
                <a:ea typeface="DM Sans"/>
                <a:cs typeface="DM Sans"/>
                <a:sym typeface="DM Sans"/>
              </a:rPr>
              <a:t>4,104 items sold</a:t>
            </a:r>
            <a:r>
              <a:rPr lang="en-US" sz="2795" b="1">
                <a:solidFill>
                  <a:srgbClr val="3A6A47"/>
                </a:solidFill>
                <a:latin typeface="DM Sans Bold"/>
                <a:ea typeface="DM Sans Bold"/>
                <a:cs typeface="DM Sans Bold"/>
                <a:sym typeface="DM Sans Bold"/>
              </a:rPr>
              <a:t>, February </a:t>
            </a:r>
            <a:r>
              <a:rPr lang="en-US" sz="2795">
                <a:solidFill>
                  <a:srgbClr val="3A6A47"/>
                </a:solidFill>
                <a:latin typeface="DM Sans"/>
                <a:ea typeface="DM Sans"/>
                <a:cs typeface="DM Sans"/>
                <a:sym typeface="DM Sans"/>
              </a:rPr>
              <a:t>dropped to 3,851</a:t>
            </a:r>
            <a:r>
              <a:rPr lang="en-US" sz="2795" b="1">
                <a:solidFill>
                  <a:srgbClr val="3A6A47"/>
                </a:solidFill>
                <a:latin typeface="DM Sans Bold"/>
                <a:ea typeface="DM Sans Bold"/>
                <a:cs typeface="DM Sans Bold"/>
                <a:sym typeface="DM Sans Bold"/>
              </a:rPr>
              <a:t>, and March increased again to </a:t>
            </a:r>
            <a:r>
              <a:rPr lang="en-US" sz="2795">
                <a:solidFill>
                  <a:srgbClr val="3A6A47"/>
                </a:solidFill>
                <a:latin typeface="DM Sans"/>
                <a:ea typeface="DM Sans"/>
                <a:cs typeface="DM Sans"/>
                <a:sym typeface="DM Sans"/>
              </a:rPr>
              <a:t>4,142 items</a:t>
            </a:r>
            <a:r>
              <a:rPr lang="en-US" sz="2795" b="1">
                <a:solidFill>
                  <a:srgbClr val="3A6A47"/>
                </a:solidFill>
                <a:latin typeface="DM Sans Bold"/>
                <a:ea typeface="DM Sans Bold"/>
                <a:cs typeface="DM Sans Bold"/>
                <a:sym typeface="DM Sans Bold"/>
              </a:rPr>
              <a:t>.</a:t>
            </a:r>
          </a:p>
          <a:p>
            <a:pPr algn="l">
              <a:lnSpc>
                <a:spcPts val="3354"/>
              </a:lnSpc>
            </a:pPr>
            <a:endParaRPr lang="en-US" sz="2795" b="1">
              <a:solidFill>
                <a:srgbClr val="3A6A47"/>
              </a:solidFill>
              <a:latin typeface="DM Sans Bold"/>
              <a:ea typeface="DM Sans Bold"/>
              <a:cs typeface="DM Sans Bold"/>
              <a:sym typeface="DM Sans Bold"/>
            </a:endParaRPr>
          </a:p>
          <a:p>
            <a:pPr marL="603579" lvl="1" indent="-301789" algn="l">
              <a:lnSpc>
                <a:spcPts val="3354"/>
              </a:lnSpc>
              <a:buFont typeface="Arial"/>
              <a:buChar char="•"/>
            </a:pPr>
            <a:r>
              <a:rPr lang="en-US" sz="2795" b="1">
                <a:solidFill>
                  <a:srgbClr val="3A6A47"/>
                </a:solidFill>
                <a:latin typeface="DM Sans Bold"/>
                <a:ea typeface="DM Sans Bold"/>
                <a:cs typeface="DM Sans Bold"/>
                <a:sym typeface="DM Sans Bold"/>
              </a:rPr>
              <a:t> Similar to order trends, item sales decrease toward the end of each month, but show strong peaks around days 13, 20, and 27.</a:t>
            </a:r>
          </a:p>
        </p:txBody>
      </p:sp>
      <p:sp>
        <p:nvSpPr>
          <p:cNvPr id="10" name="TextBox 10"/>
          <p:cNvSpPr txBox="1"/>
          <p:nvPr/>
        </p:nvSpPr>
        <p:spPr>
          <a:xfrm>
            <a:off x="691197" y="7144920"/>
            <a:ext cx="6431489" cy="1628775"/>
          </a:xfrm>
          <a:prstGeom prst="rect">
            <a:avLst/>
          </a:prstGeom>
        </p:spPr>
        <p:txBody>
          <a:bodyPr lIns="0" tIns="0" rIns="0" bIns="0" rtlCol="0" anchor="t">
            <a:spAutoFit/>
          </a:bodyPr>
          <a:lstStyle/>
          <a:p>
            <a:pPr marL="0" lvl="0" indent="0" algn="l">
              <a:lnSpc>
                <a:spcPts val="3293"/>
              </a:lnSpc>
            </a:pPr>
            <a:r>
              <a:rPr lang="en-US" sz="2744" b="1">
                <a:solidFill>
                  <a:srgbClr val="F1F5EE"/>
                </a:solidFill>
                <a:latin typeface="DM Sans Bold"/>
                <a:ea typeface="DM Sans Bold"/>
                <a:cs typeface="DM Sans Bold"/>
                <a:sym typeface="DM Sans Bold"/>
              </a:rPr>
              <a:t>This indicates predictable demand cycles and suggests opportunities to target promotions during low-activity end of month periods.</a:t>
            </a:r>
          </a:p>
        </p:txBody>
      </p:sp>
      <p:sp>
        <p:nvSpPr>
          <p:cNvPr id="11" name="TextBox 11"/>
          <p:cNvSpPr txBox="1"/>
          <p:nvPr/>
        </p:nvSpPr>
        <p:spPr>
          <a:xfrm>
            <a:off x="17350910" y="9579915"/>
            <a:ext cx="161797" cy="364185"/>
          </a:xfrm>
          <a:prstGeom prst="rect">
            <a:avLst/>
          </a:prstGeom>
        </p:spPr>
        <p:txBody>
          <a:bodyPr lIns="0" tIns="0" rIns="0" bIns="0" rtlCol="0" anchor="t">
            <a:spAutoFit/>
          </a:bodyPr>
          <a:lstStyle/>
          <a:p>
            <a:pPr algn="ctr">
              <a:lnSpc>
                <a:spcPts val="2867"/>
              </a:lnSpc>
              <a:spcBef>
                <a:spcPct val="0"/>
              </a:spcBef>
            </a:pPr>
            <a:r>
              <a:rPr lang="en-US" sz="2389">
                <a:solidFill>
                  <a:srgbClr val="3A6A47"/>
                </a:solidFill>
                <a:latin typeface="DM Sans"/>
                <a:ea typeface="DM Sans"/>
                <a:cs typeface="DM Sans"/>
                <a:sym typeface="DM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379914" y="3282014"/>
            <a:ext cx="8420100" cy="4118609"/>
            <a:chOff x="0" y="0"/>
            <a:chExt cx="6825830" cy="3338787"/>
          </a:xfrm>
        </p:grpSpPr>
        <p:sp>
          <p:nvSpPr>
            <p:cNvPr id="3" name="Freeform 3">
              <a:extLst>
                <a:ext uri="{C183D7F6-B498-43B3-948B-1728B52AA6E4}">
                  <adec:decorative xmlns:adec="http://schemas.microsoft.com/office/drawing/2017/decorative" val="1"/>
                </a:ext>
              </a:extLst>
            </p:cNvPr>
            <p:cNvSpPr/>
            <p:nvPr/>
          </p:nvSpPr>
          <p:spPr>
            <a:xfrm>
              <a:off x="0" y="0"/>
              <a:ext cx="6825830" cy="3338787"/>
            </a:xfrm>
            <a:custGeom>
              <a:avLst/>
              <a:gdLst/>
              <a:ahLst/>
              <a:cxnLst/>
              <a:rect l="l" t="t" r="r" b="b"/>
              <a:pathLst>
                <a:path w="6825830" h="3338787">
                  <a:moveTo>
                    <a:pt x="6701370" y="3338787"/>
                  </a:moveTo>
                  <a:lnTo>
                    <a:pt x="124460" y="3338787"/>
                  </a:lnTo>
                  <a:cubicBezTo>
                    <a:pt x="55880" y="3338787"/>
                    <a:pt x="0" y="3282907"/>
                    <a:pt x="0" y="3214327"/>
                  </a:cubicBezTo>
                  <a:lnTo>
                    <a:pt x="0" y="124460"/>
                  </a:lnTo>
                  <a:cubicBezTo>
                    <a:pt x="0" y="55880"/>
                    <a:pt x="55880" y="0"/>
                    <a:pt x="124460" y="0"/>
                  </a:cubicBezTo>
                  <a:lnTo>
                    <a:pt x="6701370" y="0"/>
                  </a:lnTo>
                  <a:cubicBezTo>
                    <a:pt x="6769950" y="0"/>
                    <a:pt x="6825830" y="55880"/>
                    <a:pt x="6825830" y="124460"/>
                  </a:cubicBezTo>
                  <a:lnTo>
                    <a:pt x="6825830" y="3214327"/>
                  </a:lnTo>
                  <a:cubicBezTo>
                    <a:pt x="6825830" y="3282907"/>
                    <a:pt x="6769950" y="3338787"/>
                    <a:pt x="6701370" y="3338787"/>
                  </a:cubicBezTo>
                  <a:close/>
                </a:path>
              </a:pathLst>
            </a:custGeom>
            <a:solidFill>
              <a:srgbClr val="3A6A47"/>
            </a:solidFill>
          </p:spPr>
        </p:sp>
      </p:grpSp>
      <p:grpSp>
        <p:nvGrpSpPr>
          <p:cNvPr id="4" name="Group 4"/>
          <p:cNvGrpSpPr/>
          <p:nvPr/>
        </p:nvGrpSpPr>
        <p:grpSpPr>
          <a:xfrm>
            <a:off x="-787971" y="701650"/>
            <a:ext cx="5769546" cy="903627"/>
            <a:chOff x="0" y="0"/>
            <a:chExt cx="1519551" cy="237992"/>
          </a:xfrm>
        </p:grpSpPr>
        <p:sp>
          <p:nvSpPr>
            <p:cNvPr id="5" name="Freeform 5"/>
            <p:cNvSpPr/>
            <p:nvPr/>
          </p:nvSpPr>
          <p:spPr>
            <a:xfrm>
              <a:off x="0" y="0"/>
              <a:ext cx="1519551" cy="237992"/>
            </a:xfrm>
            <a:custGeom>
              <a:avLst/>
              <a:gdLst/>
              <a:ahLst/>
              <a:cxnLst/>
              <a:rect l="l" t="t" r="r" b="b"/>
              <a:pathLst>
                <a:path w="1519551" h="237992">
                  <a:moveTo>
                    <a:pt x="68435" y="0"/>
                  </a:moveTo>
                  <a:lnTo>
                    <a:pt x="1451117" y="0"/>
                  </a:lnTo>
                  <a:cubicBezTo>
                    <a:pt x="1469267" y="0"/>
                    <a:pt x="1486673" y="7210"/>
                    <a:pt x="1499507" y="20044"/>
                  </a:cubicBezTo>
                  <a:cubicBezTo>
                    <a:pt x="1512341" y="32878"/>
                    <a:pt x="1519551" y="50285"/>
                    <a:pt x="1519551" y="68435"/>
                  </a:cubicBezTo>
                  <a:lnTo>
                    <a:pt x="1519551" y="169557"/>
                  </a:lnTo>
                  <a:cubicBezTo>
                    <a:pt x="1519551" y="187707"/>
                    <a:pt x="1512341" y="205114"/>
                    <a:pt x="1499507" y="217948"/>
                  </a:cubicBezTo>
                  <a:cubicBezTo>
                    <a:pt x="1486673" y="230782"/>
                    <a:pt x="1469267" y="237992"/>
                    <a:pt x="1451117" y="237992"/>
                  </a:cubicBezTo>
                  <a:lnTo>
                    <a:pt x="68435" y="237992"/>
                  </a:lnTo>
                  <a:cubicBezTo>
                    <a:pt x="50285" y="237992"/>
                    <a:pt x="32878" y="230782"/>
                    <a:pt x="20044" y="217948"/>
                  </a:cubicBezTo>
                  <a:cubicBezTo>
                    <a:pt x="7210" y="205114"/>
                    <a:pt x="0" y="187707"/>
                    <a:pt x="0" y="169557"/>
                  </a:cubicBezTo>
                  <a:lnTo>
                    <a:pt x="0" y="68435"/>
                  </a:lnTo>
                  <a:cubicBezTo>
                    <a:pt x="0" y="50285"/>
                    <a:pt x="7210" y="32878"/>
                    <a:pt x="20044" y="20044"/>
                  </a:cubicBezTo>
                  <a:cubicBezTo>
                    <a:pt x="32878" y="7210"/>
                    <a:pt x="50285" y="0"/>
                    <a:pt x="68435" y="0"/>
                  </a:cubicBezTo>
                  <a:close/>
                </a:path>
              </a:pathLst>
            </a:custGeom>
            <a:solidFill>
              <a:srgbClr val="6AAE7C"/>
            </a:solidFill>
          </p:spPr>
        </p:sp>
        <p:sp>
          <p:nvSpPr>
            <p:cNvPr id="6" name="TextBox 6"/>
            <p:cNvSpPr txBox="1"/>
            <p:nvPr/>
          </p:nvSpPr>
          <p:spPr>
            <a:xfrm>
              <a:off x="0" y="0"/>
              <a:ext cx="1519551"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Revenue by Category</a:t>
              </a:r>
            </a:p>
          </p:txBody>
        </p:sp>
      </p:grpSp>
      <p:grpSp>
        <p:nvGrpSpPr>
          <p:cNvPr id="7" name="Group 7"/>
          <p:cNvGrpSpPr/>
          <p:nvPr/>
        </p:nvGrpSpPr>
        <p:grpSpPr>
          <a:xfrm rot="-5400000">
            <a:off x="5322575" y="3849784"/>
            <a:ext cx="1900508" cy="10133313"/>
            <a:chOff x="0" y="0"/>
            <a:chExt cx="381000" cy="2031453"/>
          </a:xfrm>
        </p:grpSpPr>
        <p:sp>
          <p:nvSpPr>
            <p:cNvPr id="8" name="Freeform 8"/>
            <p:cNvSpPr/>
            <p:nvPr/>
          </p:nvSpPr>
          <p:spPr>
            <a:xfrm>
              <a:off x="0" y="0"/>
              <a:ext cx="381000" cy="2031453"/>
            </a:xfrm>
            <a:custGeom>
              <a:avLst/>
              <a:gdLst/>
              <a:ahLst/>
              <a:cxnLst/>
              <a:rect l="l" t="t" r="r" b="b"/>
              <a:pathLst>
                <a:path w="381000" h="2031453">
                  <a:moveTo>
                    <a:pt x="381000" y="67424"/>
                  </a:moveTo>
                  <a:lnTo>
                    <a:pt x="381000" y="1862543"/>
                  </a:lnTo>
                  <a:lnTo>
                    <a:pt x="190500" y="2031453"/>
                  </a:lnTo>
                  <a:lnTo>
                    <a:pt x="0" y="1862543"/>
                  </a:lnTo>
                  <a:lnTo>
                    <a:pt x="0" y="67424"/>
                  </a:lnTo>
                  <a:cubicBezTo>
                    <a:pt x="0" y="22860"/>
                    <a:pt x="22860" y="0"/>
                    <a:pt x="49530" y="0"/>
                  </a:cubicBezTo>
                  <a:lnTo>
                    <a:pt x="331470" y="0"/>
                  </a:lnTo>
                  <a:cubicBezTo>
                    <a:pt x="358140" y="0"/>
                    <a:pt x="381000" y="22860"/>
                    <a:pt x="381000" y="67424"/>
                  </a:cubicBezTo>
                  <a:close/>
                </a:path>
              </a:pathLst>
            </a:custGeom>
            <a:solidFill>
              <a:srgbClr val="F7E39A"/>
            </a:solidFill>
          </p:spPr>
        </p:sp>
        <p:sp>
          <p:nvSpPr>
            <p:cNvPr id="9" name="TextBox 9"/>
            <p:cNvSpPr txBox="1"/>
            <p:nvPr/>
          </p:nvSpPr>
          <p:spPr>
            <a:xfrm>
              <a:off x="0" y="0"/>
              <a:ext cx="381000" cy="1854923"/>
            </a:xfrm>
            <a:prstGeom prst="rect">
              <a:avLst/>
            </a:prstGeom>
          </p:spPr>
          <p:txBody>
            <a:bodyPr lIns="50800" tIns="50800" rIns="50800" bIns="50800" rtlCol="0" anchor="ctr"/>
            <a:lstStyle/>
            <a:p>
              <a:pPr algn="ctr">
                <a:lnSpc>
                  <a:spcPts val="2879"/>
                </a:lnSpc>
              </a:pPr>
              <a:endParaRPr/>
            </a:p>
          </p:txBody>
        </p:sp>
      </p:grpSp>
      <p:sp>
        <p:nvSpPr>
          <p:cNvPr id="10" name="Freeform 10"/>
          <p:cNvSpPr/>
          <p:nvPr/>
        </p:nvSpPr>
        <p:spPr>
          <a:xfrm>
            <a:off x="9485223" y="2002540"/>
            <a:ext cx="7233285" cy="5313551"/>
          </a:xfrm>
          <a:custGeom>
            <a:avLst/>
            <a:gdLst/>
            <a:ahLst/>
            <a:cxnLst/>
            <a:rect l="l" t="t" r="r" b="b"/>
            <a:pathLst>
              <a:path w="7233285" h="5313551">
                <a:moveTo>
                  <a:pt x="0" y="0"/>
                </a:moveTo>
                <a:lnTo>
                  <a:pt x="7233286" y="0"/>
                </a:lnTo>
                <a:lnTo>
                  <a:pt x="7233286" y="5313551"/>
                </a:lnTo>
                <a:lnTo>
                  <a:pt x="0" y="5313551"/>
                </a:lnTo>
                <a:lnTo>
                  <a:pt x="0" y="0"/>
                </a:lnTo>
                <a:close/>
              </a:path>
            </a:pathLst>
          </a:custGeom>
          <a:blipFill>
            <a:blip r:embed="rId2"/>
            <a:stretch>
              <a:fillRect/>
            </a:stretch>
          </a:blipFill>
        </p:spPr>
      </p:sp>
      <p:sp>
        <p:nvSpPr>
          <p:cNvPr id="11" name="TextBox 11"/>
          <p:cNvSpPr txBox="1"/>
          <p:nvPr/>
        </p:nvSpPr>
        <p:spPr>
          <a:xfrm>
            <a:off x="721533" y="3940370"/>
            <a:ext cx="7259404" cy="2472935"/>
          </a:xfrm>
          <a:prstGeom prst="rect">
            <a:avLst/>
          </a:prstGeom>
        </p:spPr>
        <p:txBody>
          <a:bodyPr lIns="0" tIns="0" rIns="0" bIns="0" rtlCol="0" anchor="t">
            <a:spAutoFit/>
          </a:bodyPr>
          <a:lstStyle/>
          <a:p>
            <a:pPr algn="l">
              <a:lnSpc>
                <a:spcPts val="3234"/>
              </a:lnSpc>
            </a:pPr>
            <a:r>
              <a:rPr lang="en-US" sz="3234" spc="-97">
                <a:solidFill>
                  <a:srgbClr val="F1F5EE"/>
                </a:solidFill>
                <a:latin typeface="DM Sans"/>
                <a:ea typeface="DM Sans"/>
                <a:cs typeface="DM Sans"/>
                <a:sym typeface="DM Sans"/>
              </a:rPr>
              <a:t>The </a:t>
            </a:r>
            <a:r>
              <a:rPr lang="en-US" sz="3234" b="1" spc="-97">
                <a:solidFill>
                  <a:srgbClr val="F1F5EE"/>
                </a:solidFill>
                <a:latin typeface="DM Sans Bold"/>
                <a:ea typeface="DM Sans Bold"/>
                <a:cs typeface="DM Sans Bold"/>
                <a:sym typeface="DM Sans Bold"/>
              </a:rPr>
              <a:t>Italian category</a:t>
            </a:r>
            <a:r>
              <a:rPr lang="en-US" sz="3234" spc="-97">
                <a:solidFill>
                  <a:srgbClr val="F1F5EE"/>
                </a:solidFill>
                <a:latin typeface="DM Sans"/>
                <a:ea typeface="DM Sans"/>
                <a:cs typeface="DM Sans"/>
                <a:sym typeface="DM Sans"/>
              </a:rPr>
              <a:t> generates the highest revenue, driven by both strong demand and higher priced dishes. </a:t>
            </a:r>
          </a:p>
          <a:p>
            <a:pPr algn="l">
              <a:lnSpc>
                <a:spcPts val="3234"/>
              </a:lnSpc>
            </a:pPr>
            <a:endParaRPr lang="en-US" sz="3234" spc="-97">
              <a:solidFill>
                <a:srgbClr val="F1F5EE"/>
              </a:solidFill>
              <a:latin typeface="DM Sans"/>
              <a:ea typeface="DM Sans"/>
              <a:cs typeface="DM Sans"/>
              <a:sym typeface="DM Sans"/>
            </a:endParaRPr>
          </a:p>
          <a:p>
            <a:pPr marL="0" lvl="0" indent="0" algn="l">
              <a:lnSpc>
                <a:spcPts val="3234"/>
              </a:lnSpc>
              <a:spcBef>
                <a:spcPct val="0"/>
              </a:spcBef>
            </a:pPr>
            <a:r>
              <a:rPr lang="en-US" sz="3234" spc="-97">
                <a:solidFill>
                  <a:srgbClr val="F1F5EE"/>
                </a:solidFill>
                <a:latin typeface="DM Sans"/>
                <a:ea typeface="DM Sans"/>
                <a:cs typeface="DM Sans"/>
                <a:sym typeface="DM Sans"/>
              </a:rPr>
              <a:t>Other categories show moderate performance.</a:t>
            </a:r>
          </a:p>
        </p:txBody>
      </p:sp>
      <p:sp>
        <p:nvSpPr>
          <p:cNvPr id="12" name="TextBox 12"/>
          <p:cNvSpPr txBox="1"/>
          <p:nvPr/>
        </p:nvSpPr>
        <p:spPr>
          <a:xfrm>
            <a:off x="1546748" y="8440191"/>
            <a:ext cx="8618604" cy="942975"/>
          </a:xfrm>
          <a:prstGeom prst="rect">
            <a:avLst/>
          </a:prstGeom>
        </p:spPr>
        <p:txBody>
          <a:bodyPr lIns="0" tIns="0" rIns="0" bIns="0" rtlCol="0" anchor="t">
            <a:spAutoFit/>
          </a:bodyPr>
          <a:lstStyle/>
          <a:p>
            <a:pPr algn="ctr">
              <a:lnSpc>
                <a:spcPts val="3719"/>
              </a:lnSpc>
              <a:spcBef>
                <a:spcPct val="0"/>
              </a:spcBef>
            </a:pPr>
            <a:r>
              <a:rPr lang="en-US" sz="3099">
                <a:solidFill>
                  <a:srgbClr val="3A6A47"/>
                </a:solidFill>
                <a:latin typeface="DM Sans"/>
                <a:ea typeface="DM Sans"/>
                <a:cs typeface="DM Sans"/>
                <a:sym typeface="DM Sans"/>
              </a:rPr>
              <a:t>Lower activity periods suggest opportunities for promotions or special offers.</a:t>
            </a:r>
          </a:p>
        </p:txBody>
      </p:sp>
      <p:sp>
        <p:nvSpPr>
          <p:cNvPr id="13" name="TextBox 13"/>
          <p:cNvSpPr txBox="1"/>
          <p:nvPr/>
        </p:nvSpPr>
        <p:spPr>
          <a:xfrm>
            <a:off x="17339244" y="9579915"/>
            <a:ext cx="185128" cy="364185"/>
          </a:xfrm>
          <a:prstGeom prst="rect">
            <a:avLst/>
          </a:prstGeom>
        </p:spPr>
        <p:txBody>
          <a:bodyPr lIns="0" tIns="0" rIns="0" bIns="0" rtlCol="0" anchor="t">
            <a:spAutoFit/>
          </a:bodyPr>
          <a:lstStyle/>
          <a:p>
            <a:pPr algn="ctr">
              <a:lnSpc>
                <a:spcPts val="2867"/>
              </a:lnSpc>
              <a:spcBef>
                <a:spcPct val="0"/>
              </a:spcBef>
            </a:pPr>
            <a:r>
              <a:rPr lang="en-US" sz="2389">
                <a:solidFill>
                  <a:srgbClr val="3A6A47"/>
                </a:solidFill>
                <a:latin typeface="DM Sans"/>
                <a:ea typeface="DM Sans"/>
                <a:cs typeface="DM Sans"/>
                <a:sym typeface="DM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723900" y="3041292"/>
            <a:ext cx="7307846" cy="1926642"/>
            <a:chOff x="0" y="0"/>
            <a:chExt cx="5924171" cy="1561850"/>
          </a:xfrm>
        </p:grpSpPr>
        <p:sp>
          <p:nvSpPr>
            <p:cNvPr id="3" name="Freeform 3">
              <a:extLst>
                <a:ext uri="{C183D7F6-B498-43B3-948B-1728B52AA6E4}">
                  <adec:decorative xmlns:adec="http://schemas.microsoft.com/office/drawing/2017/decorative" val="1"/>
                </a:ext>
              </a:extLst>
            </p:cNvPr>
            <p:cNvSpPr/>
            <p:nvPr/>
          </p:nvSpPr>
          <p:spPr>
            <a:xfrm>
              <a:off x="0" y="0"/>
              <a:ext cx="5924172" cy="1561850"/>
            </a:xfrm>
            <a:custGeom>
              <a:avLst/>
              <a:gdLst/>
              <a:ahLst/>
              <a:cxnLst/>
              <a:rect l="l" t="t" r="r" b="b"/>
              <a:pathLst>
                <a:path w="5924172" h="1561850">
                  <a:moveTo>
                    <a:pt x="5799711" y="1561850"/>
                  </a:moveTo>
                  <a:lnTo>
                    <a:pt x="124460" y="1561850"/>
                  </a:lnTo>
                  <a:cubicBezTo>
                    <a:pt x="55880" y="1561850"/>
                    <a:pt x="0" y="1505970"/>
                    <a:pt x="0" y="1437390"/>
                  </a:cubicBezTo>
                  <a:lnTo>
                    <a:pt x="0" y="124460"/>
                  </a:lnTo>
                  <a:cubicBezTo>
                    <a:pt x="0" y="55880"/>
                    <a:pt x="55880" y="0"/>
                    <a:pt x="124460" y="0"/>
                  </a:cubicBezTo>
                  <a:lnTo>
                    <a:pt x="5799711" y="0"/>
                  </a:lnTo>
                  <a:cubicBezTo>
                    <a:pt x="5868291" y="0"/>
                    <a:pt x="5924172" y="55880"/>
                    <a:pt x="5924172" y="124460"/>
                  </a:cubicBezTo>
                  <a:lnTo>
                    <a:pt x="5924172" y="1437390"/>
                  </a:lnTo>
                  <a:cubicBezTo>
                    <a:pt x="5924172" y="1505970"/>
                    <a:pt x="5868291" y="1561850"/>
                    <a:pt x="5799711" y="1561850"/>
                  </a:cubicBezTo>
                  <a:close/>
                </a:path>
              </a:pathLst>
            </a:custGeom>
            <a:solidFill>
              <a:srgbClr val="3A6A47"/>
            </a:solidFill>
          </p:spPr>
        </p:sp>
      </p:grpSp>
      <p:sp>
        <p:nvSpPr>
          <p:cNvPr id="4" name="TextBox 4"/>
          <p:cNvSpPr txBox="1"/>
          <p:nvPr/>
        </p:nvSpPr>
        <p:spPr>
          <a:xfrm>
            <a:off x="1028700" y="3501217"/>
            <a:ext cx="3844821" cy="1178242"/>
          </a:xfrm>
          <a:prstGeom prst="rect">
            <a:avLst/>
          </a:prstGeom>
        </p:spPr>
        <p:txBody>
          <a:bodyPr lIns="0" tIns="0" rIns="0" bIns="0" rtlCol="0" anchor="t">
            <a:spAutoFit/>
          </a:bodyPr>
          <a:lstStyle/>
          <a:p>
            <a:pPr marL="0" lvl="0" indent="0" algn="l">
              <a:lnSpc>
                <a:spcPts val="8887"/>
              </a:lnSpc>
              <a:spcBef>
                <a:spcPct val="0"/>
              </a:spcBef>
            </a:pPr>
            <a:r>
              <a:rPr lang="en-US" sz="8887" spc="-266">
                <a:solidFill>
                  <a:srgbClr val="F1F5EE"/>
                </a:solidFill>
                <a:latin typeface="DM Sans"/>
                <a:ea typeface="DM Sans"/>
                <a:cs typeface="DM Sans"/>
                <a:sym typeface="DM Sans"/>
              </a:rPr>
              <a:t>5k</a:t>
            </a:r>
          </a:p>
        </p:txBody>
      </p:sp>
      <p:sp>
        <p:nvSpPr>
          <p:cNvPr id="5" name="TextBox 5"/>
          <p:cNvSpPr txBox="1"/>
          <p:nvPr/>
        </p:nvSpPr>
        <p:spPr>
          <a:xfrm>
            <a:off x="4377823" y="3833889"/>
            <a:ext cx="2876550" cy="390525"/>
          </a:xfrm>
          <a:prstGeom prst="rect">
            <a:avLst/>
          </a:prstGeom>
        </p:spPr>
        <p:txBody>
          <a:bodyPr lIns="0" tIns="0" rIns="0" bIns="0" rtlCol="0" anchor="t">
            <a:spAutoFit/>
          </a:bodyPr>
          <a:lstStyle/>
          <a:p>
            <a:pPr marL="0" lvl="0" indent="0" algn="l">
              <a:lnSpc>
                <a:spcPts val="3119"/>
              </a:lnSpc>
            </a:pPr>
            <a:r>
              <a:rPr lang="en-US" sz="2599" b="1">
                <a:solidFill>
                  <a:srgbClr val="F1F5EE"/>
                </a:solidFill>
                <a:latin typeface="DM Sans Bold"/>
                <a:ea typeface="DM Sans Bold"/>
                <a:cs typeface="DM Sans Bold"/>
                <a:sym typeface="DM Sans Bold"/>
              </a:rPr>
              <a:t>Total Orders</a:t>
            </a:r>
          </a:p>
        </p:txBody>
      </p:sp>
      <p:grpSp>
        <p:nvGrpSpPr>
          <p:cNvPr id="6" name="Group 6"/>
          <p:cNvGrpSpPr/>
          <p:nvPr/>
        </p:nvGrpSpPr>
        <p:grpSpPr>
          <a:xfrm>
            <a:off x="5994955" y="845913"/>
            <a:ext cx="12596882" cy="1299528"/>
            <a:chOff x="0" y="0"/>
            <a:chExt cx="3317697" cy="342263"/>
          </a:xfrm>
        </p:grpSpPr>
        <p:sp>
          <p:nvSpPr>
            <p:cNvPr id="7" name="Freeform 7"/>
            <p:cNvSpPr/>
            <p:nvPr/>
          </p:nvSpPr>
          <p:spPr>
            <a:xfrm>
              <a:off x="0" y="0"/>
              <a:ext cx="3317697" cy="342263"/>
            </a:xfrm>
            <a:custGeom>
              <a:avLst/>
              <a:gdLst/>
              <a:ahLst/>
              <a:cxnLst/>
              <a:rect l="l" t="t" r="r" b="b"/>
              <a:pathLst>
                <a:path w="3317697" h="342263">
                  <a:moveTo>
                    <a:pt x="10448" y="0"/>
                  </a:moveTo>
                  <a:lnTo>
                    <a:pt x="3307249" y="0"/>
                  </a:lnTo>
                  <a:cubicBezTo>
                    <a:pt x="3310020" y="0"/>
                    <a:pt x="3312678" y="1101"/>
                    <a:pt x="3314637" y="3060"/>
                  </a:cubicBezTo>
                  <a:cubicBezTo>
                    <a:pt x="3316597" y="5020"/>
                    <a:pt x="3317697" y="7677"/>
                    <a:pt x="3317697" y="10448"/>
                  </a:cubicBezTo>
                  <a:lnTo>
                    <a:pt x="3317697" y="331815"/>
                  </a:lnTo>
                  <a:cubicBezTo>
                    <a:pt x="3317697" y="334586"/>
                    <a:pt x="3316597" y="337243"/>
                    <a:pt x="3314637" y="339202"/>
                  </a:cubicBezTo>
                  <a:cubicBezTo>
                    <a:pt x="3312678" y="341162"/>
                    <a:pt x="3310020" y="342263"/>
                    <a:pt x="3307249" y="342263"/>
                  </a:cubicBezTo>
                  <a:lnTo>
                    <a:pt x="10448" y="342263"/>
                  </a:lnTo>
                  <a:cubicBezTo>
                    <a:pt x="7677" y="342263"/>
                    <a:pt x="5020" y="341162"/>
                    <a:pt x="3060" y="339202"/>
                  </a:cubicBezTo>
                  <a:cubicBezTo>
                    <a:pt x="1101" y="337243"/>
                    <a:pt x="0" y="334586"/>
                    <a:pt x="0" y="331815"/>
                  </a:cubicBezTo>
                  <a:lnTo>
                    <a:pt x="0" y="10448"/>
                  </a:lnTo>
                  <a:cubicBezTo>
                    <a:pt x="0" y="7677"/>
                    <a:pt x="1101" y="5020"/>
                    <a:pt x="3060" y="3060"/>
                  </a:cubicBezTo>
                  <a:cubicBezTo>
                    <a:pt x="5020" y="1101"/>
                    <a:pt x="7677" y="0"/>
                    <a:pt x="10448" y="0"/>
                  </a:cubicBezTo>
                  <a:close/>
                </a:path>
              </a:pathLst>
            </a:custGeom>
            <a:solidFill>
              <a:srgbClr val="98C299"/>
            </a:solidFill>
          </p:spPr>
        </p:sp>
        <p:sp>
          <p:nvSpPr>
            <p:cNvPr id="8" name="TextBox 8"/>
            <p:cNvSpPr txBox="1"/>
            <p:nvPr/>
          </p:nvSpPr>
          <p:spPr>
            <a:xfrm>
              <a:off x="0" y="0"/>
              <a:ext cx="3317697" cy="342263"/>
            </a:xfrm>
            <a:prstGeom prst="rect">
              <a:avLst/>
            </a:prstGeom>
          </p:spPr>
          <p:txBody>
            <a:bodyPr lIns="50800" tIns="50800" rIns="50800" bIns="50800" rtlCol="0" anchor="ctr"/>
            <a:lstStyle/>
            <a:p>
              <a:pPr algn="ctr">
                <a:lnSpc>
                  <a:spcPts val="6719"/>
                </a:lnSpc>
              </a:pPr>
              <a:r>
                <a:rPr lang="en-US" sz="5599" b="1">
                  <a:solidFill>
                    <a:srgbClr val="FEFFFF"/>
                  </a:solidFill>
                  <a:latin typeface="DM Sans Bold"/>
                  <a:ea typeface="DM Sans Bold"/>
                  <a:cs typeface="DM Sans Bold"/>
                  <a:sym typeface="DM Sans Bold"/>
                </a:rPr>
                <a:t>Key Performance Indicators</a:t>
              </a:r>
            </a:p>
          </p:txBody>
        </p:sp>
      </p:grpSp>
      <p:grpSp>
        <p:nvGrpSpPr>
          <p:cNvPr id="9" name="Group 9"/>
          <p:cNvGrpSpPr/>
          <p:nvPr/>
        </p:nvGrpSpPr>
        <p:grpSpPr>
          <a:xfrm>
            <a:off x="723900" y="5624387"/>
            <a:ext cx="7307846" cy="1926642"/>
            <a:chOff x="0" y="0"/>
            <a:chExt cx="5924171" cy="1561850"/>
          </a:xfrm>
        </p:grpSpPr>
        <p:sp>
          <p:nvSpPr>
            <p:cNvPr id="10" name="Freeform 10">
              <a:extLst>
                <a:ext uri="{C183D7F6-B498-43B3-948B-1728B52AA6E4}">
                  <adec:decorative xmlns:adec="http://schemas.microsoft.com/office/drawing/2017/decorative" val="1"/>
                </a:ext>
              </a:extLst>
            </p:cNvPr>
            <p:cNvSpPr/>
            <p:nvPr/>
          </p:nvSpPr>
          <p:spPr>
            <a:xfrm>
              <a:off x="0" y="0"/>
              <a:ext cx="5924172" cy="1561850"/>
            </a:xfrm>
            <a:custGeom>
              <a:avLst/>
              <a:gdLst/>
              <a:ahLst/>
              <a:cxnLst/>
              <a:rect l="l" t="t" r="r" b="b"/>
              <a:pathLst>
                <a:path w="5924172" h="1561850">
                  <a:moveTo>
                    <a:pt x="5799711" y="1561850"/>
                  </a:moveTo>
                  <a:lnTo>
                    <a:pt x="124460" y="1561850"/>
                  </a:lnTo>
                  <a:cubicBezTo>
                    <a:pt x="55880" y="1561850"/>
                    <a:pt x="0" y="1505970"/>
                    <a:pt x="0" y="1437390"/>
                  </a:cubicBezTo>
                  <a:lnTo>
                    <a:pt x="0" y="124460"/>
                  </a:lnTo>
                  <a:cubicBezTo>
                    <a:pt x="0" y="55880"/>
                    <a:pt x="55880" y="0"/>
                    <a:pt x="124460" y="0"/>
                  </a:cubicBezTo>
                  <a:lnTo>
                    <a:pt x="5799711" y="0"/>
                  </a:lnTo>
                  <a:cubicBezTo>
                    <a:pt x="5868291" y="0"/>
                    <a:pt x="5924172" y="55880"/>
                    <a:pt x="5924172" y="124460"/>
                  </a:cubicBezTo>
                  <a:lnTo>
                    <a:pt x="5924172" y="1437390"/>
                  </a:lnTo>
                  <a:cubicBezTo>
                    <a:pt x="5924172" y="1505970"/>
                    <a:pt x="5868291" y="1561850"/>
                    <a:pt x="5799711" y="1561850"/>
                  </a:cubicBezTo>
                  <a:close/>
                </a:path>
              </a:pathLst>
            </a:custGeom>
            <a:solidFill>
              <a:srgbClr val="3A6A47"/>
            </a:solidFill>
          </p:spPr>
        </p:sp>
      </p:grpSp>
      <p:grpSp>
        <p:nvGrpSpPr>
          <p:cNvPr id="11" name="Group 11"/>
          <p:cNvGrpSpPr/>
          <p:nvPr/>
        </p:nvGrpSpPr>
        <p:grpSpPr>
          <a:xfrm>
            <a:off x="9429750" y="3041292"/>
            <a:ext cx="7443481" cy="1926642"/>
            <a:chOff x="0" y="0"/>
            <a:chExt cx="6034125" cy="1561850"/>
          </a:xfrm>
        </p:grpSpPr>
        <p:sp>
          <p:nvSpPr>
            <p:cNvPr id="12" name="Freeform 12">
              <a:extLst>
                <a:ext uri="{C183D7F6-B498-43B3-948B-1728B52AA6E4}">
                  <adec:decorative xmlns:adec="http://schemas.microsoft.com/office/drawing/2017/decorative" val="1"/>
                </a:ext>
              </a:extLst>
            </p:cNvPr>
            <p:cNvSpPr/>
            <p:nvPr/>
          </p:nvSpPr>
          <p:spPr>
            <a:xfrm>
              <a:off x="0" y="0"/>
              <a:ext cx="6034125" cy="1561850"/>
            </a:xfrm>
            <a:custGeom>
              <a:avLst/>
              <a:gdLst/>
              <a:ahLst/>
              <a:cxnLst/>
              <a:rect l="l" t="t" r="r" b="b"/>
              <a:pathLst>
                <a:path w="6034125" h="1561850">
                  <a:moveTo>
                    <a:pt x="5909665" y="1561850"/>
                  </a:moveTo>
                  <a:lnTo>
                    <a:pt x="124460" y="1561850"/>
                  </a:lnTo>
                  <a:cubicBezTo>
                    <a:pt x="55880" y="1561850"/>
                    <a:pt x="0" y="1505970"/>
                    <a:pt x="0" y="1437390"/>
                  </a:cubicBezTo>
                  <a:lnTo>
                    <a:pt x="0" y="124460"/>
                  </a:lnTo>
                  <a:cubicBezTo>
                    <a:pt x="0" y="55880"/>
                    <a:pt x="55880" y="0"/>
                    <a:pt x="124460" y="0"/>
                  </a:cubicBezTo>
                  <a:lnTo>
                    <a:pt x="5909666" y="0"/>
                  </a:lnTo>
                  <a:cubicBezTo>
                    <a:pt x="5978245" y="0"/>
                    <a:pt x="6034125" y="55880"/>
                    <a:pt x="6034125" y="124460"/>
                  </a:cubicBezTo>
                  <a:lnTo>
                    <a:pt x="6034125" y="1437390"/>
                  </a:lnTo>
                  <a:cubicBezTo>
                    <a:pt x="6034125" y="1505970"/>
                    <a:pt x="5978245" y="1561850"/>
                    <a:pt x="5909666" y="1561850"/>
                  </a:cubicBezTo>
                  <a:close/>
                </a:path>
              </a:pathLst>
            </a:custGeom>
            <a:solidFill>
              <a:srgbClr val="3A6A47"/>
            </a:solidFill>
          </p:spPr>
        </p:sp>
      </p:grpSp>
      <p:grpSp>
        <p:nvGrpSpPr>
          <p:cNvPr id="13" name="Group 13"/>
          <p:cNvGrpSpPr/>
          <p:nvPr/>
        </p:nvGrpSpPr>
        <p:grpSpPr>
          <a:xfrm>
            <a:off x="9429750" y="5624387"/>
            <a:ext cx="7443481" cy="1926642"/>
            <a:chOff x="0" y="0"/>
            <a:chExt cx="6034125" cy="1561850"/>
          </a:xfrm>
        </p:grpSpPr>
        <p:sp>
          <p:nvSpPr>
            <p:cNvPr id="14" name="Freeform 14">
              <a:extLst>
                <a:ext uri="{C183D7F6-B498-43B3-948B-1728B52AA6E4}">
                  <adec:decorative xmlns:adec="http://schemas.microsoft.com/office/drawing/2017/decorative" val="1"/>
                </a:ext>
              </a:extLst>
            </p:cNvPr>
            <p:cNvSpPr/>
            <p:nvPr/>
          </p:nvSpPr>
          <p:spPr>
            <a:xfrm>
              <a:off x="0" y="0"/>
              <a:ext cx="6034125" cy="1561850"/>
            </a:xfrm>
            <a:custGeom>
              <a:avLst/>
              <a:gdLst/>
              <a:ahLst/>
              <a:cxnLst/>
              <a:rect l="l" t="t" r="r" b="b"/>
              <a:pathLst>
                <a:path w="6034125" h="1561850">
                  <a:moveTo>
                    <a:pt x="5909665" y="1561850"/>
                  </a:moveTo>
                  <a:lnTo>
                    <a:pt x="124460" y="1561850"/>
                  </a:lnTo>
                  <a:cubicBezTo>
                    <a:pt x="55880" y="1561850"/>
                    <a:pt x="0" y="1505970"/>
                    <a:pt x="0" y="1437390"/>
                  </a:cubicBezTo>
                  <a:lnTo>
                    <a:pt x="0" y="124460"/>
                  </a:lnTo>
                  <a:cubicBezTo>
                    <a:pt x="0" y="55880"/>
                    <a:pt x="55880" y="0"/>
                    <a:pt x="124460" y="0"/>
                  </a:cubicBezTo>
                  <a:lnTo>
                    <a:pt x="5909666" y="0"/>
                  </a:lnTo>
                  <a:cubicBezTo>
                    <a:pt x="5978245" y="0"/>
                    <a:pt x="6034125" y="55880"/>
                    <a:pt x="6034125" y="124460"/>
                  </a:cubicBezTo>
                  <a:lnTo>
                    <a:pt x="6034125" y="1437390"/>
                  </a:lnTo>
                  <a:cubicBezTo>
                    <a:pt x="6034125" y="1505970"/>
                    <a:pt x="5978245" y="1561850"/>
                    <a:pt x="5909666" y="1561850"/>
                  </a:cubicBezTo>
                  <a:close/>
                </a:path>
              </a:pathLst>
            </a:custGeom>
            <a:solidFill>
              <a:srgbClr val="3A6A47"/>
            </a:solidFill>
          </p:spPr>
        </p:sp>
      </p:grpSp>
      <p:sp>
        <p:nvSpPr>
          <p:cNvPr id="15" name="TextBox 15"/>
          <p:cNvSpPr txBox="1"/>
          <p:nvPr/>
        </p:nvSpPr>
        <p:spPr>
          <a:xfrm>
            <a:off x="1028700" y="6084312"/>
            <a:ext cx="4126496" cy="1178242"/>
          </a:xfrm>
          <a:prstGeom prst="rect">
            <a:avLst/>
          </a:prstGeom>
        </p:spPr>
        <p:txBody>
          <a:bodyPr lIns="0" tIns="0" rIns="0" bIns="0" rtlCol="0" anchor="t">
            <a:spAutoFit/>
          </a:bodyPr>
          <a:lstStyle/>
          <a:p>
            <a:pPr marL="0" lvl="0" indent="0" algn="l">
              <a:lnSpc>
                <a:spcPts val="8887"/>
              </a:lnSpc>
              <a:spcBef>
                <a:spcPct val="0"/>
              </a:spcBef>
            </a:pPr>
            <a:r>
              <a:rPr lang="en-US" sz="8887" spc="-266">
                <a:solidFill>
                  <a:srgbClr val="F1F5EE"/>
                </a:solidFill>
                <a:latin typeface="DM Sans"/>
                <a:ea typeface="DM Sans"/>
                <a:cs typeface="DM Sans"/>
                <a:sym typeface="DM Sans"/>
              </a:rPr>
              <a:t>159,22 $</a:t>
            </a:r>
          </a:p>
        </p:txBody>
      </p:sp>
      <p:sp>
        <p:nvSpPr>
          <p:cNvPr id="16" name="TextBox 16"/>
          <p:cNvSpPr txBox="1"/>
          <p:nvPr/>
        </p:nvSpPr>
        <p:spPr>
          <a:xfrm>
            <a:off x="9794979" y="3501217"/>
            <a:ext cx="3844821" cy="1178242"/>
          </a:xfrm>
          <a:prstGeom prst="rect">
            <a:avLst/>
          </a:prstGeom>
        </p:spPr>
        <p:txBody>
          <a:bodyPr lIns="0" tIns="0" rIns="0" bIns="0" rtlCol="0" anchor="t">
            <a:spAutoFit/>
          </a:bodyPr>
          <a:lstStyle/>
          <a:p>
            <a:pPr marL="0" lvl="0" indent="0" algn="l">
              <a:lnSpc>
                <a:spcPts val="8887"/>
              </a:lnSpc>
              <a:spcBef>
                <a:spcPct val="0"/>
              </a:spcBef>
            </a:pPr>
            <a:r>
              <a:rPr lang="en-US" sz="8887" spc="-266">
                <a:solidFill>
                  <a:srgbClr val="F1F5EE"/>
                </a:solidFill>
                <a:latin typeface="DM Sans"/>
                <a:ea typeface="DM Sans"/>
                <a:cs typeface="DM Sans"/>
                <a:sym typeface="DM Sans"/>
              </a:rPr>
              <a:t>12k</a:t>
            </a:r>
          </a:p>
        </p:txBody>
      </p:sp>
      <p:sp>
        <p:nvSpPr>
          <p:cNvPr id="17" name="TextBox 17"/>
          <p:cNvSpPr txBox="1"/>
          <p:nvPr/>
        </p:nvSpPr>
        <p:spPr>
          <a:xfrm>
            <a:off x="9794979" y="6034734"/>
            <a:ext cx="3844821" cy="1178242"/>
          </a:xfrm>
          <a:prstGeom prst="rect">
            <a:avLst/>
          </a:prstGeom>
        </p:spPr>
        <p:txBody>
          <a:bodyPr lIns="0" tIns="0" rIns="0" bIns="0" rtlCol="0" anchor="t">
            <a:spAutoFit/>
          </a:bodyPr>
          <a:lstStyle/>
          <a:p>
            <a:pPr marL="0" lvl="0" indent="0" algn="l">
              <a:lnSpc>
                <a:spcPts val="8887"/>
              </a:lnSpc>
              <a:spcBef>
                <a:spcPct val="0"/>
              </a:spcBef>
            </a:pPr>
            <a:r>
              <a:rPr lang="en-US" sz="8887" spc="-266">
                <a:solidFill>
                  <a:srgbClr val="F1F5EE"/>
                </a:solidFill>
                <a:latin typeface="DM Sans"/>
                <a:ea typeface="DM Sans"/>
                <a:cs typeface="DM Sans"/>
                <a:sym typeface="DM Sans"/>
              </a:rPr>
              <a:t>29,80</a:t>
            </a:r>
          </a:p>
        </p:txBody>
      </p:sp>
      <p:sp>
        <p:nvSpPr>
          <p:cNvPr id="18" name="TextBox 18"/>
          <p:cNvSpPr txBox="1"/>
          <p:nvPr/>
        </p:nvSpPr>
        <p:spPr>
          <a:xfrm>
            <a:off x="5155196" y="6342868"/>
            <a:ext cx="2876550" cy="390525"/>
          </a:xfrm>
          <a:prstGeom prst="rect">
            <a:avLst/>
          </a:prstGeom>
        </p:spPr>
        <p:txBody>
          <a:bodyPr lIns="0" tIns="0" rIns="0" bIns="0" rtlCol="0" anchor="t">
            <a:spAutoFit/>
          </a:bodyPr>
          <a:lstStyle/>
          <a:p>
            <a:pPr marL="0" lvl="0" indent="0" algn="l">
              <a:lnSpc>
                <a:spcPts val="3119"/>
              </a:lnSpc>
            </a:pPr>
            <a:r>
              <a:rPr lang="en-US" sz="2599" b="1">
                <a:solidFill>
                  <a:srgbClr val="F1F5EE"/>
                </a:solidFill>
                <a:latin typeface="DM Sans Bold"/>
                <a:ea typeface="DM Sans Bold"/>
                <a:cs typeface="DM Sans Bold"/>
                <a:sym typeface="DM Sans Bold"/>
              </a:rPr>
              <a:t>Total Revenue</a:t>
            </a:r>
          </a:p>
        </p:txBody>
      </p:sp>
      <p:sp>
        <p:nvSpPr>
          <p:cNvPr id="19" name="TextBox 19"/>
          <p:cNvSpPr txBox="1"/>
          <p:nvPr/>
        </p:nvSpPr>
        <p:spPr>
          <a:xfrm>
            <a:off x="13151491" y="3833889"/>
            <a:ext cx="2876550" cy="390525"/>
          </a:xfrm>
          <a:prstGeom prst="rect">
            <a:avLst/>
          </a:prstGeom>
        </p:spPr>
        <p:txBody>
          <a:bodyPr lIns="0" tIns="0" rIns="0" bIns="0" rtlCol="0" anchor="t">
            <a:spAutoFit/>
          </a:bodyPr>
          <a:lstStyle/>
          <a:p>
            <a:pPr marL="0" lvl="0" indent="0" algn="l">
              <a:lnSpc>
                <a:spcPts val="3119"/>
              </a:lnSpc>
            </a:pPr>
            <a:r>
              <a:rPr lang="en-US" sz="2599" b="1">
                <a:solidFill>
                  <a:srgbClr val="F1F5EE"/>
                </a:solidFill>
                <a:latin typeface="DM Sans Bold"/>
                <a:ea typeface="DM Sans Bold"/>
                <a:cs typeface="DM Sans Bold"/>
                <a:sym typeface="DM Sans Bold"/>
              </a:rPr>
              <a:t>Total Items Sold</a:t>
            </a:r>
          </a:p>
        </p:txBody>
      </p:sp>
      <p:sp>
        <p:nvSpPr>
          <p:cNvPr id="20" name="TextBox 20"/>
          <p:cNvSpPr txBox="1"/>
          <p:nvPr/>
        </p:nvSpPr>
        <p:spPr>
          <a:xfrm>
            <a:off x="13151491" y="6342868"/>
            <a:ext cx="3354008" cy="390525"/>
          </a:xfrm>
          <a:prstGeom prst="rect">
            <a:avLst/>
          </a:prstGeom>
        </p:spPr>
        <p:txBody>
          <a:bodyPr lIns="0" tIns="0" rIns="0" bIns="0" rtlCol="0" anchor="t">
            <a:spAutoFit/>
          </a:bodyPr>
          <a:lstStyle/>
          <a:p>
            <a:pPr marL="0" lvl="0" indent="0" algn="l">
              <a:lnSpc>
                <a:spcPts val="3119"/>
              </a:lnSpc>
            </a:pPr>
            <a:r>
              <a:rPr lang="en-US" sz="2599" b="1">
                <a:solidFill>
                  <a:srgbClr val="F1F5EE"/>
                </a:solidFill>
                <a:latin typeface="DM Sans Bold"/>
                <a:ea typeface="DM Sans Bold"/>
                <a:cs typeface="DM Sans Bold"/>
                <a:sym typeface="DM Sans Bold"/>
              </a:rPr>
              <a:t>Average Order Value</a:t>
            </a:r>
          </a:p>
        </p:txBody>
      </p:sp>
      <p:sp>
        <p:nvSpPr>
          <p:cNvPr id="21" name="TextBox 21"/>
          <p:cNvSpPr txBox="1"/>
          <p:nvPr/>
        </p:nvSpPr>
        <p:spPr>
          <a:xfrm>
            <a:off x="17336209" y="9579915"/>
            <a:ext cx="191197" cy="364185"/>
          </a:xfrm>
          <a:prstGeom prst="rect">
            <a:avLst/>
          </a:prstGeom>
        </p:spPr>
        <p:txBody>
          <a:bodyPr lIns="0" tIns="0" rIns="0" bIns="0" rtlCol="0" anchor="t">
            <a:spAutoFit/>
          </a:bodyPr>
          <a:lstStyle/>
          <a:p>
            <a:pPr algn="ctr">
              <a:lnSpc>
                <a:spcPts val="2867"/>
              </a:lnSpc>
              <a:spcBef>
                <a:spcPct val="0"/>
              </a:spcBef>
            </a:pPr>
            <a:r>
              <a:rPr lang="en-US" sz="2389">
                <a:solidFill>
                  <a:srgbClr val="3A6A47"/>
                </a:solidFill>
                <a:latin typeface="DM Sans"/>
                <a:ea typeface="DM Sans"/>
                <a:cs typeface="DM Sans"/>
                <a:sym typeface="DM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1874485" y="0"/>
            <a:ext cx="7865106" cy="2673863"/>
            <a:chOff x="0" y="0"/>
            <a:chExt cx="2071468" cy="704227"/>
          </a:xfrm>
        </p:grpSpPr>
        <p:sp>
          <p:nvSpPr>
            <p:cNvPr id="3" name="Freeform 3"/>
            <p:cNvSpPr/>
            <p:nvPr/>
          </p:nvSpPr>
          <p:spPr>
            <a:xfrm>
              <a:off x="0" y="0"/>
              <a:ext cx="2071468" cy="704227"/>
            </a:xfrm>
            <a:custGeom>
              <a:avLst/>
              <a:gdLst/>
              <a:ahLst/>
              <a:cxnLst/>
              <a:rect l="l" t="t" r="r" b="b"/>
              <a:pathLst>
                <a:path w="2071468" h="704227">
                  <a:moveTo>
                    <a:pt x="50201" y="0"/>
                  </a:moveTo>
                  <a:lnTo>
                    <a:pt x="2021267" y="0"/>
                  </a:lnTo>
                  <a:cubicBezTo>
                    <a:pt x="2034581" y="0"/>
                    <a:pt x="2047350" y="5289"/>
                    <a:pt x="2056765" y="14704"/>
                  </a:cubicBezTo>
                  <a:cubicBezTo>
                    <a:pt x="2066179" y="24118"/>
                    <a:pt x="2071468" y="36887"/>
                    <a:pt x="2071468" y="50201"/>
                  </a:cubicBezTo>
                  <a:lnTo>
                    <a:pt x="2071468" y="654026"/>
                  </a:lnTo>
                  <a:cubicBezTo>
                    <a:pt x="2071468" y="667340"/>
                    <a:pt x="2066179" y="680109"/>
                    <a:pt x="2056765" y="689524"/>
                  </a:cubicBezTo>
                  <a:cubicBezTo>
                    <a:pt x="2047350" y="698938"/>
                    <a:pt x="2034581" y="704227"/>
                    <a:pt x="2021267" y="704227"/>
                  </a:cubicBezTo>
                  <a:lnTo>
                    <a:pt x="50201" y="704227"/>
                  </a:lnTo>
                  <a:cubicBezTo>
                    <a:pt x="36887" y="704227"/>
                    <a:pt x="24118" y="698938"/>
                    <a:pt x="14704" y="689524"/>
                  </a:cubicBezTo>
                  <a:cubicBezTo>
                    <a:pt x="5289" y="680109"/>
                    <a:pt x="0" y="667340"/>
                    <a:pt x="0" y="654026"/>
                  </a:cubicBezTo>
                  <a:lnTo>
                    <a:pt x="0" y="50201"/>
                  </a:lnTo>
                  <a:cubicBezTo>
                    <a:pt x="0" y="36887"/>
                    <a:pt x="5289" y="24118"/>
                    <a:pt x="14704" y="14704"/>
                  </a:cubicBezTo>
                  <a:cubicBezTo>
                    <a:pt x="24118" y="5289"/>
                    <a:pt x="36887" y="0"/>
                    <a:pt x="50201" y="0"/>
                  </a:cubicBezTo>
                  <a:close/>
                </a:path>
              </a:pathLst>
            </a:custGeom>
            <a:solidFill>
              <a:srgbClr val="98C299"/>
            </a:solidFill>
          </p:spPr>
        </p:sp>
        <p:sp>
          <p:nvSpPr>
            <p:cNvPr id="4" name="TextBox 4"/>
            <p:cNvSpPr txBox="1"/>
            <p:nvPr/>
          </p:nvSpPr>
          <p:spPr>
            <a:xfrm>
              <a:off x="0" y="0"/>
              <a:ext cx="2071468" cy="704227"/>
            </a:xfrm>
            <a:prstGeom prst="rect">
              <a:avLst/>
            </a:prstGeom>
          </p:spPr>
          <p:txBody>
            <a:bodyPr lIns="50800" tIns="50800" rIns="50800" bIns="50800" rtlCol="0" anchor="ctr"/>
            <a:lstStyle/>
            <a:p>
              <a:pPr algn="ctr">
                <a:lnSpc>
                  <a:spcPts val="2879"/>
                </a:lnSpc>
              </a:pPr>
              <a:endParaRPr/>
            </a:p>
          </p:txBody>
        </p:sp>
      </p:grpSp>
      <p:sp>
        <p:nvSpPr>
          <p:cNvPr id="5" name="Freeform 5"/>
          <p:cNvSpPr/>
          <p:nvPr/>
        </p:nvSpPr>
        <p:spPr>
          <a:xfrm>
            <a:off x="9142787" y="267202"/>
            <a:ext cx="8238520" cy="5332755"/>
          </a:xfrm>
          <a:custGeom>
            <a:avLst/>
            <a:gdLst/>
            <a:ahLst/>
            <a:cxnLst/>
            <a:rect l="l" t="t" r="r" b="b"/>
            <a:pathLst>
              <a:path w="8238520" h="5332755">
                <a:moveTo>
                  <a:pt x="0" y="0"/>
                </a:moveTo>
                <a:lnTo>
                  <a:pt x="8238520" y="0"/>
                </a:lnTo>
                <a:lnTo>
                  <a:pt x="8238520" y="5332756"/>
                </a:lnTo>
                <a:lnTo>
                  <a:pt x="0" y="5332756"/>
                </a:lnTo>
                <a:lnTo>
                  <a:pt x="0" y="0"/>
                </a:lnTo>
                <a:close/>
              </a:path>
            </a:pathLst>
          </a:custGeom>
          <a:blipFill>
            <a:blip r:embed="rId2"/>
            <a:stretch>
              <a:fillRect t="-1187" b="-1187"/>
            </a:stretch>
          </a:blipFill>
        </p:spPr>
      </p:sp>
      <p:sp>
        <p:nvSpPr>
          <p:cNvPr id="6" name="Freeform 6"/>
          <p:cNvSpPr/>
          <p:nvPr/>
        </p:nvSpPr>
        <p:spPr>
          <a:xfrm>
            <a:off x="190970" y="4861851"/>
            <a:ext cx="8770138" cy="5248134"/>
          </a:xfrm>
          <a:custGeom>
            <a:avLst/>
            <a:gdLst/>
            <a:ahLst/>
            <a:cxnLst/>
            <a:rect l="l" t="t" r="r" b="b"/>
            <a:pathLst>
              <a:path w="8770138" h="5248134">
                <a:moveTo>
                  <a:pt x="0" y="0"/>
                </a:moveTo>
                <a:lnTo>
                  <a:pt x="8770137" y="0"/>
                </a:lnTo>
                <a:lnTo>
                  <a:pt x="8770137" y="5248134"/>
                </a:lnTo>
                <a:lnTo>
                  <a:pt x="0" y="5248134"/>
                </a:lnTo>
                <a:lnTo>
                  <a:pt x="0" y="0"/>
                </a:lnTo>
                <a:close/>
              </a:path>
            </a:pathLst>
          </a:custGeom>
          <a:blipFill>
            <a:blip r:embed="rId3"/>
            <a:stretch>
              <a:fillRect/>
            </a:stretch>
          </a:blipFill>
        </p:spPr>
      </p:sp>
      <p:sp>
        <p:nvSpPr>
          <p:cNvPr id="7" name="TextBox 7"/>
          <p:cNvSpPr txBox="1"/>
          <p:nvPr/>
        </p:nvSpPr>
        <p:spPr>
          <a:xfrm>
            <a:off x="9328031" y="6603046"/>
            <a:ext cx="7729331" cy="2243202"/>
          </a:xfrm>
          <a:prstGeom prst="rect">
            <a:avLst/>
          </a:prstGeom>
        </p:spPr>
        <p:txBody>
          <a:bodyPr lIns="0" tIns="0" rIns="0" bIns="0" rtlCol="0" anchor="t">
            <a:spAutoFit/>
          </a:bodyPr>
          <a:lstStyle/>
          <a:p>
            <a:pPr marL="0" lvl="0" indent="0" algn="l">
              <a:lnSpc>
                <a:spcPts val="4476"/>
              </a:lnSpc>
            </a:pPr>
            <a:r>
              <a:rPr lang="en-US" sz="3699" spc="-110">
                <a:solidFill>
                  <a:srgbClr val="FEFFFF"/>
                </a:solidFill>
                <a:latin typeface="DM Sans"/>
                <a:ea typeface="DM Sans"/>
                <a:cs typeface="DM Sans"/>
                <a:sym typeface="DM Sans"/>
              </a:rPr>
              <a:t>Th</a:t>
            </a:r>
            <a:r>
              <a:rPr lang="en-US" sz="3699" u="none" strike="noStrike" spc="-110">
                <a:solidFill>
                  <a:srgbClr val="FEFFFF"/>
                </a:solidFill>
                <a:latin typeface="DM Sans"/>
                <a:ea typeface="DM Sans"/>
                <a:cs typeface="DM Sans"/>
                <a:sym typeface="DM Sans"/>
              </a:rPr>
              <a:t>e Italian category has the highest average price at </a:t>
            </a:r>
            <a:r>
              <a:rPr lang="en-US" sz="3699" b="1" u="none" strike="noStrike" spc="-110">
                <a:solidFill>
                  <a:srgbClr val="FEFFFF"/>
                </a:solidFill>
                <a:latin typeface="DM Sans Bold"/>
                <a:ea typeface="DM Sans Bold"/>
                <a:cs typeface="DM Sans Bold"/>
                <a:sym typeface="DM Sans Bold"/>
              </a:rPr>
              <a:t>16.75</a:t>
            </a:r>
            <a:r>
              <a:rPr lang="en-US" sz="3699" u="none" strike="noStrike" spc="-110">
                <a:solidFill>
                  <a:srgbClr val="FEFFFF"/>
                </a:solidFill>
                <a:latin typeface="DM Sans"/>
                <a:ea typeface="DM Sans"/>
                <a:cs typeface="DM Sans"/>
                <a:sym typeface="DM Sans"/>
              </a:rPr>
              <a:t>, followed by Asian </a:t>
            </a:r>
            <a:r>
              <a:rPr lang="en-US" sz="3699" b="1" u="none" strike="noStrike" spc="-110">
                <a:solidFill>
                  <a:srgbClr val="FEFFFF"/>
                </a:solidFill>
                <a:latin typeface="DM Sans Bold"/>
                <a:ea typeface="DM Sans Bold"/>
                <a:cs typeface="DM Sans Bold"/>
                <a:sym typeface="DM Sans Bold"/>
              </a:rPr>
              <a:t>13.48</a:t>
            </a:r>
            <a:r>
              <a:rPr lang="en-US" sz="3699" u="none" strike="noStrike" spc="-110">
                <a:solidFill>
                  <a:srgbClr val="FEFFFF"/>
                </a:solidFill>
                <a:latin typeface="DM Sans"/>
                <a:ea typeface="DM Sans"/>
                <a:cs typeface="DM Sans"/>
                <a:sym typeface="DM Sans"/>
              </a:rPr>
              <a:t>, Mexican </a:t>
            </a:r>
            <a:r>
              <a:rPr lang="en-US" sz="3699" b="1" u="none" strike="noStrike" spc="-110">
                <a:solidFill>
                  <a:srgbClr val="FEFFFF"/>
                </a:solidFill>
                <a:latin typeface="DM Sans Bold"/>
                <a:ea typeface="DM Sans Bold"/>
                <a:cs typeface="DM Sans Bold"/>
                <a:sym typeface="DM Sans Bold"/>
              </a:rPr>
              <a:t>11.80</a:t>
            </a:r>
            <a:r>
              <a:rPr lang="en-US" sz="3699" u="none" strike="noStrike" spc="-110">
                <a:solidFill>
                  <a:srgbClr val="FEFFFF"/>
                </a:solidFill>
                <a:latin typeface="DM Sans"/>
                <a:ea typeface="DM Sans"/>
                <a:cs typeface="DM Sans"/>
                <a:sym typeface="DM Sans"/>
              </a:rPr>
              <a:t>, and American </a:t>
            </a:r>
            <a:r>
              <a:rPr lang="en-US" sz="3699" b="1" u="none" strike="noStrike" spc="-110">
                <a:solidFill>
                  <a:srgbClr val="FEFFFF"/>
                </a:solidFill>
                <a:latin typeface="DM Sans Bold"/>
                <a:ea typeface="DM Sans Bold"/>
                <a:cs typeface="DM Sans Bold"/>
                <a:sym typeface="DM Sans Bold"/>
              </a:rPr>
              <a:t>10.07</a:t>
            </a:r>
            <a:r>
              <a:rPr lang="en-US" sz="3699" u="none" strike="noStrike" spc="-110">
                <a:solidFill>
                  <a:srgbClr val="FEFFFF"/>
                </a:solidFill>
                <a:latin typeface="DM Sans"/>
                <a:ea typeface="DM Sans"/>
                <a:cs typeface="DM Sans"/>
                <a:sym typeface="DM Sans"/>
              </a:rPr>
              <a:t>.</a:t>
            </a:r>
          </a:p>
        </p:txBody>
      </p:sp>
      <p:sp>
        <p:nvSpPr>
          <p:cNvPr id="8" name="TextBox 8"/>
          <p:cNvSpPr txBox="1"/>
          <p:nvPr/>
        </p:nvSpPr>
        <p:spPr>
          <a:xfrm>
            <a:off x="190970" y="579786"/>
            <a:ext cx="5429207" cy="1628591"/>
          </a:xfrm>
          <a:prstGeom prst="rect">
            <a:avLst/>
          </a:prstGeom>
        </p:spPr>
        <p:txBody>
          <a:bodyPr lIns="0" tIns="0" rIns="0" bIns="0" rtlCol="0" anchor="t">
            <a:spAutoFit/>
          </a:bodyPr>
          <a:lstStyle/>
          <a:p>
            <a:pPr marL="0" lvl="0" indent="0" algn="l">
              <a:lnSpc>
                <a:spcPts val="6237"/>
              </a:lnSpc>
            </a:pPr>
            <a:r>
              <a:rPr lang="en-US" sz="6237" spc="-187">
                <a:solidFill>
                  <a:srgbClr val="F1F5EE"/>
                </a:solidFill>
                <a:latin typeface="DM Sans"/>
                <a:ea typeface="DM Sans"/>
                <a:cs typeface="DM Sans"/>
                <a:sym typeface="DM Sans"/>
              </a:rPr>
              <a:t>Menu Insights &amp; Item Analysis</a:t>
            </a:r>
          </a:p>
        </p:txBody>
      </p:sp>
      <p:grpSp>
        <p:nvGrpSpPr>
          <p:cNvPr id="9" name="Group 9"/>
          <p:cNvGrpSpPr/>
          <p:nvPr/>
        </p:nvGrpSpPr>
        <p:grpSpPr>
          <a:xfrm>
            <a:off x="-498394" y="2779464"/>
            <a:ext cx="5769546" cy="903627"/>
            <a:chOff x="0" y="0"/>
            <a:chExt cx="1519551" cy="237992"/>
          </a:xfrm>
        </p:grpSpPr>
        <p:sp>
          <p:nvSpPr>
            <p:cNvPr id="10" name="Freeform 10"/>
            <p:cNvSpPr/>
            <p:nvPr/>
          </p:nvSpPr>
          <p:spPr>
            <a:xfrm>
              <a:off x="0" y="0"/>
              <a:ext cx="1519551" cy="237992"/>
            </a:xfrm>
            <a:custGeom>
              <a:avLst/>
              <a:gdLst/>
              <a:ahLst/>
              <a:cxnLst/>
              <a:rect l="l" t="t" r="r" b="b"/>
              <a:pathLst>
                <a:path w="1519551" h="237992">
                  <a:moveTo>
                    <a:pt x="68435" y="0"/>
                  </a:moveTo>
                  <a:lnTo>
                    <a:pt x="1451117" y="0"/>
                  </a:lnTo>
                  <a:cubicBezTo>
                    <a:pt x="1469267" y="0"/>
                    <a:pt x="1486673" y="7210"/>
                    <a:pt x="1499507" y="20044"/>
                  </a:cubicBezTo>
                  <a:cubicBezTo>
                    <a:pt x="1512341" y="32878"/>
                    <a:pt x="1519551" y="50285"/>
                    <a:pt x="1519551" y="68435"/>
                  </a:cubicBezTo>
                  <a:lnTo>
                    <a:pt x="1519551" y="169557"/>
                  </a:lnTo>
                  <a:cubicBezTo>
                    <a:pt x="1519551" y="187707"/>
                    <a:pt x="1512341" y="205114"/>
                    <a:pt x="1499507" y="217948"/>
                  </a:cubicBezTo>
                  <a:cubicBezTo>
                    <a:pt x="1486673" y="230782"/>
                    <a:pt x="1469267" y="237992"/>
                    <a:pt x="1451117" y="237992"/>
                  </a:cubicBezTo>
                  <a:lnTo>
                    <a:pt x="68435" y="237992"/>
                  </a:lnTo>
                  <a:cubicBezTo>
                    <a:pt x="50285" y="237992"/>
                    <a:pt x="32878" y="230782"/>
                    <a:pt x="20044" y="217948"/>
                  </a:cubicBezTo>
                  <a:cubicBezTo>
                    <a:pt x="7210" y="205114"/>
                    <a:pt x="0" y="187707"/>
                    <a:pt x="0" y="169557"/>
                  </a:cubicBezTo>
                  <a:lnTo>
                    <a:pt x="0" y="68435"/>
                  </a:lnTo>
                  <a:cubicBezTo>
                    <a:pt x="0" y="50285"/>
                    <a:pt x="7210" y="32878"/>
                    <a:pt x="20044" y="20044"/>
                  </a:cubicBezTo>
                  <a:cubicBezTo>
                    <a:pt x="32878" y="7210"/>
                    <a:pt x="50285" y="0"/>
                    <a:pt x="68435" y="0"/>
                  </a:cubicBezTo>
                  <a:close/>
                </a:path>
              </a:pathLst>
            </a:custGeom>
            <a:solidFill>
              <a:srgbClr val="6AAE7C"/>
            </a:solidFill>
          </p:spPr>
        </p:sp>
        <p:sp>
          <p:nvSpPr>
            <p:cNvPr id="11" name="TextBox 11"/>
            <p:cNvSpPr txBox="1"/>
            <p:nvPr/>
          </p:nvSpPr>
          <p:spPr>
            <a:xfrm>
              <a:off x="0" y="0"/>
              <a:ext cx="1519551"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Average Price Per Ctageory</a:t>
              </a:r>
            </a:p>
          </p:txBody>
        </p:sp>
      </p:grpSp>
      <p:sp>
        <p:nvSpPr>
          <p:cNvPr id="12" name="TextBox 12"/>
          <p:cNvSpPr txBox="1"/>
          <p:nvPr/>
        </p:nvSpPr>
        <p:spPr>
          <a:xfrm>
            <a:off x="17280837" y="9579915"/>
            <a:ext cx="301943" cy="361950"/>
          </a:xfrm>
          <a:prstGeom prst="rect">
            <a:avLst/>
          </a:prstGeom>
        </p:spPr>
        <p:txBody>
          <a:bodyPr lIns="0" tIns="0" rIns="0" bIns="0" rtlCol="0" anchor="t">
            <a:spAutoFit/>
          </a:bodyPr>
          <a:lstStyle/>
          <a:p>
            <a:pPr algn="ctr">
              <a:lnSpc>
                <a:spcPts val="2867"/>
              </a:lnSpc>
              <a:spcBef>
                <a:spcPct val="0"/>
              </a:spcBef>
            </a:pPr>
            <a:r>
              <a:rPr lang="en-US" sz="2389">
                <a:solidFill>
                  <a:srgbClr val="F1F5EE"/>
                </a:solidFill>
                <a:latin typeface="DM Sans"/>
                <a:ea typeface="DM Sans"/>
                <a:cs typeface="DM Sans"/>
                <a:sym typeface="DM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206567" y="2358000"/>
            <a:ext cx="8427042" cy="6900300"/>
            <a:chOff x="0" y="0"/>
            <a:chExt cx="2219468" cy="1817363"/>
          </a:xfrm>
        </p:grpSpPr>
        <p:sp>
          <p:nvSpPr>
            <p:cNvPr id="3" name="Freeform 3">
              <a:extLst>
                <a:ext uri="{C183D7F6-B498-43B3-948B-1728B52AA6E4}">
                  <adec:decorative xmlns:adec="http://schemas.microsoft.com/office/drawing/2017/decorative" val="1"/>
                </a:ext>
              </a:extLst>
            </p:cNvPr>
            <p:cNvSpPr/>
            <p:nvPr/>
          </p:nvSpPr>
          <p:spPr>
            <a:xfrm>
              <a:off x="0" y="0"/>
              <a:ext cx="2219468" cy="1817363"/>
            </a:xfrm>
            <a:custGeom>
              <a:avLst/>
              <a:gdLst/>
              <a:ahLst/>
              <a:cxnLst/>
              <a:rect l="l" t="t" r="r" b="b"/>
              <a:pathLst>
                <a:path w="2219468" h="1817363">
                  <a:moveTo>
                    <a:pt x="27561" y="0"/>
                  </a:moveTo>
                  <a:lnTo>
                    <a:pt x="2191907" y="0"/>
                  </a:lnTo>
                  <a:cubicBezTo>
                    <a:pt x="2199217" y="0"/>
                    <a:pt x="2206227" y="2904"/>
                    <a:pt x="2211395" y="8072"/>
                  </a:cubicBezTo>
                  <a:cubicBezTo>
                    <a:pt x="2216564" y="13241"/>
                    <a:pt x="2219468" y="20251"/>
                    <a:pt x="2219468" y="27561"/>
                  </a:cubicBezTo>
                  <a:lnTo>
                    <a:pt x="2219468" y="1789802"/>
                  </a:lnTo>
                  <a:cubicBezTo>
                    <a:pt x="2219468" y="1805023"/>
                    <a:pt x="2207128" y="1817363"/>
                    <a:pt x="2191907" y="1817363"/>
                  </a:cubicBezTo>
                  <a:lnTo>
                    <a:pt x="27561" y="1817363"/>
                  </a:lnTo>
                  <a:cubicBezTo>
                    <a:pt x="12339" y="1817363"/>
                    <a:pt x="0" y="1805023"/>
                    <a:pt x="0" y="1789802"/>
                  </a:cubicBezTo>
                  <a:lnTo>
                    <a:pt x="0" y="27561"/>
                  </a:lnTo>
                  <a:cubicBezTo>
                    <a:pt x="0" y="12339"/>
                    <a:pt x="12339" y="0"/>
                    <a:pt x="27561" y="0"/>
                  </a:cubicBezTo>
                  <a:close/>
                </a:path>
              </a:pathLst>
            </a:custGeom>
            <a:solidFill>
              <a:srgbClr val="98C299"/>
            </a:solidFill>
            <a:ln cap="rnd">
              <a:noFill/>
              <a:prstDash val="solid"/>
              <a:round/>
            </a:ln>
          </p:spPr>
        </p:sp>
        <p:sp>
          <p:nvSpPr>
            <p:cNvPr id="4" name="TextBox 4"/>
            <p:cNvSpPr txBox="1"/>
            <p:nvPr/>
          </p:nvSpPr>
          <p:spPr>
            <a:xfrm>
              <a:off x="0" y="-28575"/>
              <a:ext cx="2219468" cy="1845938"/>
            </a:xfrm>
            <a:prstGeom prst="rect">
              <a:avLst/>
            </a:prstGeom>
          </p:spPr>
          <p:txBody>
            <a:bodyPr lIns="50800" tIns="50800" rIns="50800" bIns="50800" rtlCol="0" anchor="ctr"/>
            <a:lstStyle/>
            <a:p>
              <a:pPr marL="0" lvl="0" indent="0" algn="ctr">
                <a:lnSpc>
                  <a:spcPts val="1910"/>
                </a:lnSpc>
                <a:spcBef>
                  <a:spcPct val="0"/>
                </a:spcBef>
              </a:pPr>
              <a:endParaRPr/>
            </a:p>
          </p:txBody>
        </p:sp>
      </p:grpSp>
      <p:sp>
        <p:nvSpPr>
          <p:cNvPr id="5" name="Freeform 5"/>
          <p:cNvSpPr/>
          <p:nvPr/>
        </p:nvSpPr>
        <p:spPr>
          <a:xfrm>
            <a:off x="8140922" y="2954337"/>
            <a:ext cx="9908142" cy="3942775"/>
          </a:xfrm>
          <a:custGeom>
            <a:avLst/>
            <a:gdLst/>
            <a:ahLst/>
            <a:cxnLst/>
            <a:rect l="l" t="t" r="r" b="b"/>
            <a:pathLst>
              <a:path w="9908142" h="3942775">
                <a:moveTo>
                  <a:pt x="0" y="0"/>
                </a:moveTo>
                <a:lnTo>
                  <a:pt x="9908142" y="0"/>
                </a:lnTo>
                <a:lnTo>
                  <a:pt x="9908142" y="3942775"/>
                </a:lnTo>
                <a:lnTo>
                  <a:pt x="0" y="3942775"/>
                </a:lnTo>
                <a:lnTo>
                  <a:pt x="0" y="0"/>
                </a:lnTo>
                <a:close/>
              </a:path>
            </a:pathLst>
          </a:custGeom>
          <a:blipFill>
            <a:blip r:embed="rId2"/>
            <a:stretch>
              <a:fillRect/>
            </a:stretch>
          </a:blipFill>
        </p:spPr>
      </p:sp>
      <p:grpSp>
        <p:nvGrpSpPr>
          <p:cNvPr id="6" name="Group 6"/>
          <p:cNvGrpSpPr/>
          <p:nvPr/>
        </p:nvGrpSpPr>
        <p:grpSpPr>
          <a:xfrm>
            <a:off x="-628610" y="761119"/>
            <a:ext cx="6854678" cy="903627"/>
            <a:chOff x="0" y="0"/>
            <a:chExt cx="1805347" cy="237992"/>
          </a:xfrm>
        </p:grpSpPr>
        <p:sp>
          <p:nvSpPr>
            <p:cNvPr id="7" name="Freeform 7"/>
            <p:cNvSpPr/>
            <p:nvPr/>
          </p:nvSpPr>
          <p:spPr>
            <a:xfrm>
              <a:off x="0" y="0"/>
              <a:ext cx="1805347" cy="237992"/>
            </a:xfrm>
            <a:custGeom>
              <a:avLst/>
              <a:gdLst/>
              <a:ahLst/>
              <a:cxnLst/>
              <a:rect l="l" t="t" r="r" b="b"/>
              <a:pathLst>
                <a:path w="1805347" h="237992">
                  <a:moveTo>
                    <a:pt x="57601" y="0"/>
                  </a:moveTo>
                  <a:lnTo>
                    <a:pt x="1747746" y="0"/>
                  </a:lnTo>
                  <a:cubicBezTo>
                    <a:pt x="1763023" y="0"/>
                    <a:pt x="1777674" y="6069"/>
                    <a:pt x="1788476" y="16871"/>
                  </a:cubicBezTo>
                  <a:cubicBezTo>
                    <a:pt x="1799279" y="27673"/>
                    <a:pt x="1805347" y="42324"/>
                    <a:pt x="1805347" y="57601"/>
                  </a:cubicBezTo>
                  <a:lnTo>
                    <a:pt x="1805347" y="180391"/>
                  </a:lnTo>
                  <a:cubicBezTo>
                    <a:pt x="1805347" y="195668"/>
                    <a:pt x="1799279" y="210319"/>
                    <a:pt x="1788476" y="221121"/>
                  </a:cubicBezTo>
                  <a:cubicBezTo>
                    <a:pt x="1777674" y="231923"/>
                    <a:pt x="1763023" y="237992"/>
                    <a:pt x="1747746" y="237992"/>
                  </a:cubicBezTo>
                  <a:lnTo>
                    <a:pt x="57601" y="237992"/>
                  </a:lnTo>
                  <a:cubicBezTo>
                    <a:pt x="42324" y="237992"/>
                    <a:pt x="27673" y="231923"/>
                    <a:pt x="16871" y="221121"/>
                  </a:cubicBezTo>
                  <a:cubicBezTo>
                    <a:pt x="6069" y="210319"/>
                    <a:pt x="0" y="195668"/>
                    <a:pt x="0" y="180391"/>
                  </a:cubicBezTo>
                  <a:lnTo>
                    <a:pt x="0" y="57601"/>
                  </a:lnTo>
                  <a:cubicBezTo>
                    <a:pt x="0" y="42324"/>
                    <a:pt x="6069" y="27673"/>
                    <a:pt x="16871" y="16871"/>
                  </a:cubicBezTo>
                  <a:cubicBezTo>
                    <a:pt x="27673" y="6069"/>
                    <a:pt x="42324" y="0"/>
                    <a:pt x="57601" y="0"/>
                  </a:cubicBezTo>
                  <a:close/>
                </a:path>
              </a:pathLst>
            </a:custGeom>
            <a:solidFill>
              <a:srgbClr val="6AAE7C"/>
            </a:solidFill>
          </p:spPr>
        </p:sp>
        <p:sp>
          <p:nvSpPr>
            <p:cNvPr id="8" name="TextBox 8"/>
            <p:cNvSpPr txBox="1"/>
            <p:nvPr/>
          </p:nvSpPr>
          <p:spPr>
            <a:xfrm>
              <a:off x="0" y="0"/>
              <a:ext cx="1805347"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Total Items Sold vs Price per Category</a:t>
              </a:r>
            </a:p>
          </p:txBody>
        </p:sp>
      </p:grpSp>
      <p:sp>
        <p:nvSpPr>
          <p:cNvPr id="9" name="TextBox 9"/>
          <p:cNvSpPr txBox="1"/>
          <p:nvPr/>
        </p:nvSpPr>
        <p:spPr>
          <a:xfrm>
            <a:off x="421026" y="2947411"/>
            <a:ext cx="6931199" cy="2971800"/>
          </a:xfrm>
          <a:prstGeom prst="rect">
            <a:avLst/>
          </a:prstGeom>
        </p:spPr>
        <p:txBody>
          <a:bodyPr lIns="0" tIns="0" rIns="0" bIns="0" rtlCol="0" anchor="t">
            <a:spAutoFit/>
          </a:bodyPr>
          <a:lstStyle/>
          <a:p>
            <a:pPr marL="539749" lvl="1" indent="-269875" algn="l">
              <a:lnSpc>
                <a:spcPts val="2999"/>
              </a:lnSpc>
              <a:buFont typeface="Arial"/>
              <a:buChar char="•"/>
            </a:pPr>
            <a:r>
              <a:rPr lang="en-US" sz="2499">
                <a:solidFill>
                  <a:srgbClr val="000000"/>
                </a:solidFill>
                <a:latin typeface="DM Sans"/>
                <a:ea typeface="DM Sans"/>
                <a:cs typeface="DM Sans"/>
                <a:sym typeface="DM Sans"/>
              </a:rPr>
              <a:t>The Asian category leads in volume with approximately </a:t>
            </a:r>
            <a:r>
              <a:rPr lang="en-US" sz="2499" b="1">
                <a:solidFill>
                  <a:srgbClr val="000000"/>
                </a:solidFill>
                <a:latin typeface="DM Sans Bold"/>
                <a:ea typeface="DM Sans Bold"/>
                <a:cs typeface="DM Sans Bold"/>
                <a:sym typeface="DM Sans Bold"/>
              </a:rPr>
              <a:t>3.5K items sold</a:t>
            </a:r>
            <a:r>
              <a:rPr lang="en-US" sz="2499">
                <a:solidFill>
                  <a:srgbClr val="000000"/>
                </a:solidFill>
                <a:latin typeface="DM Sans"/>
                <a:ea typeface="DM Sans"/>
                <a:cs typeface="DM Sans"/>
                <a:sym typeface="DM Sans"/>
              </a:rPr>
              <a:t>, making it the strongest category in terms of demand.</a:t>
            </a:r>
          </a:p>
          <a:p>
            <a:pPr algn="l">
              <a:lnSpc>
                <a:spcPts val="2999"/>
              </a:lnSpc>
            </a:pPr>
            <a:endParaRPr lang="en-US" sz="2499">
              <a:solidFill>
                <a:srgbClr val="000000"/>
              </a:solidFill>
              <a:latin typeface="DM Sans"/>
              <a:ea typeface="DM Sans"/>
              <a:cs typeface="DM Sans"/>
              <a:sym typeface="DM Sans"/>
            </a:endParaRPr>
          </a:p>
          <a:p>
            <a:pPr marL="539749" lvl="1" indent="-269875" algn="l">
              <a:lnSpc>
                <a:spcPts val="2999"/>
              </a:lnSpc>
              <a:buFont typeface="Arial"/>
              <a:buChar char="•"/>
            </a:pPr>
            <a:r>
              <a:rPr lang="en-US" sz="2499">
                <a:solidFill>
                  <a:srgbClr val="000000"/>
                </a:solidFill>
                <a:latin typeface="DM Sans"/>
                <a:ea typeface="DM Sans"/>
                <a:cs typeface="DM Sans"/>
                <a:sym typeface="DM Sans"/>
              </a:rPr>
              <a:t> Italian and Mexican categories follow closely with around </a:t>
            </a:r>
            <a:r>
              <a:rPr lang="en-US" sz="2499" b="1">
                <a:solidFill>
                  <a:srgbClr val="000000"/>
                </a:solidFill>
                <a:latin typeface="DM Sans Bold"/>
                <a:ea typeface="DM Sans Bold"/>
                <a:cs typeface="DM Sans Bold"/>
                <a:sym typeface="DM Sans Bold"/>
              </a:rPr>
              <a:t>2.9K items sold</a:t>
            </a:r>
            <a:r>
              <a:rPr lang="en-US" sz="2499">
                <a:solidFill>
                  <a:srgbClr val="000000"/>
                </a:solidFill>
                <a:latin typeface="DM Sans"/>
                <a:ea typeface="DM Sans"/>
                <a:cs typeface="DM Sans"/>
                <a:sym typeface="DM Sans"/>
              </a:rPr>
              <a:t> each, while the American category records approximately </a:t>
            </a:r>
            <a:r>
              <a:rPr lang="en-US" sz="2499" b="1">
                <a:solidFill>
                  <a:srgbClr val="000000"/>
                </a:solidFill>
                <a:latin typeface="DM Sans Bold"/>
                <a:ea typeface="DM Sans Bold"/>
                <a:cs typeface="DM Sans Bold"/>
                <a:sym typeface="DM Sans Bold"/>
              </a:rPr>
              <a:t>2.7K items sold</a:t>
            </a:r>
            <a:r>
              <a:rPr lang="en-US" sz="2499">
                <a:solidFill>
                  <a:srgbClr val="000000"/>
                </a:solidFill>
                <a:latin typeface="DM Sans"/>
                <a:ea typeface="DM Sans"/>
                <a:cs typeface="DM Sans"/>
                <a:sym typeface="DM Sans"/>
              </a:rPr>
              <a:t>.</a:t>
            </a:r>
          </a:p>
        </p:txBody>
      </p:sp>
      <p:grpSp>
        <p:nvGrpSpPr>
          <p:cNvPr id="10" name="Group 10"/>
          <p:cNvGrpSpPr/>
          <p:nvPr/>
        </p:nvGrpSpPr>
        <p:grpSpPr>
          <a:xfrm>
            <a:off x="898484" y="6513714"/>
            <a:ext cx="6753686" cy="2214596"/>
            <a:chOff x="0" y="0"/>
            <a:chExt cx="5924171" cy="1942591"/>
          </a:xfrm>
        </p:grpSpPr>
        <p:sp>
          <p:nvSpPr>
            <p:cNvPr id="11" name="Freeform 11">
              <a:extLst>
                <a:ext uri="{C183D7F6-B498-43B3-948B-1728B52AA6E4}">
                  <adec:decorative xmlns:adec="http://schemas.microsoft.com/office/drawing/2017/decorative" val="1"/>
                </a:ext>
              </a:extLst>
            </p:cNvPr>
            <p:cNvSpPr/>
            <p:nvPr/>
          </p:nvSpPr>
          <p:spPr>
            <a:xfrm>
              <a:off x="0" y="0"/>
              <a:ext cx="5924172" cy="1942591"/>
            </a:xfrm>
            <a:custGeom>
              <a:avLst/>
              <a:gdLst/>
              <a:ahLst/>
              <a:cxnLst/>
              <a:rect l="l" t="t" r="r" b="b"/>
              <a:pathLst>
                <a:path w="5924172" h="1942591">
                  <a:moveTo>
                    <a:pt x="5799711" y="1942591"/>
                  </a:moveTo>
                  <a:lnTo>
                    <a:pt x="124460" y="1942591"/>
                  </a:lnTo>
                  <a:cubicBezTo>
                    <a:pt x="55880" y="1942591"/>
                    <a:pt x="0" y="1886711"/>
                    <a:pt x="0" y="1818130"/>
                  </a:cubicBezTo>
                  <a:lnTo>
                    <a:pt x="0" y="124460"/>
                  </a:lnTo>
                  <a:cubicBezTo>
                    <a:pt x="0" y="55880"/>
                    <a:pt x="55880" y="0"/>
                    <a:pt x="124460" y="0"/>
                  </a:cubicBezTo>
                  <a:lnTo>
                    <a:pt x="5799711" y="0"/>
                  </a:lnTo>
                  <a:cubicBezTo>
                    <a:pt x="5868291" y="0"/>
                    <a:pt x="5924172" y="55880"/>
                    <a:pt x="5924172" y="124460"/>
                  </a:cubicBezTo>
                  <a:lnTo>
                    <a:pt x="5924172" y="1818131"/>
                  </a:lnTo>
                  <a:cubicBezTo>
                    <a:pt x="5924172" y="1886711"/>
                    <a:pt x="5868291" y="1942591"/>
                    <a:pt x="5799711" y="1942591"/>
                  </a:cubicBezTo>
                  <a:close/>
                </a:path>
              </a:pathLst>
            </a:custGeom>
            <a:solidFill>
              <a:srgbClr val="F1E2AB"/>
            </a:solidFill>
          </p:spPr>
        </p:sp>
      </p:grpSp>
      <p:sp>
        <p:nvSpPr>
          <p:cNvPr id="12" name="TextBox 12"/>
          <p:cNvSpPr txBox="1"/>
          <p:nvPr/>
        </p:nvSpPr>
        <p:spPr>
          <a:xfrm>
            <a:off x="898484" y="6897112"/>
            <a:ext cx="6753686" cy="1447800"/>
          </a:xfrm>
          <a:prstGeom prst="rect">
            <a:avLst/>
          </a:prstGeom>
        </p:spPr>
        <p:txBody>
          <a:bodyPr lIns="0" tIns="0" rIns="0" bIns="0" rtlCol="0" anchor="t">
            <a:spAutoFit/>
          </a:bodyPr>
          <a:lstStyle/>
          <a:p>
            <a:pPr algn="ctr">
              <a:lnSpc>
                <a:spcPts val="2879"/>
              </a:lnSpc>
              <a:spcBef>
                <a:spcPct val="0"/>
              </a:spcBef>
            </a:pPr>
            <a:r>
              <a:rPr lang="en-US" sz="2400" b="1">
                <a:solidFill>
                  <a:srgbClr val="545454"/>
                </a:solidFill>
                <a:latin typeface="DM Sans Bold"/>
                <a:ea typeface="DM Sans Bold"/>
                <a:cs typeface="DM Sans Bold"/>
                <a:sym typeface="DM Sans Bold"/>
              </a:rPr>
              <a:t>This indicates that Asian dishes achieve an optimal balance between price and volume, while Italian dishes rely more on higher pricing than volume.</a:t>
            </a:r>
          </a:p>
        </p:txBody>
      </p:sp>
      <p:sp>
        <p:nvSpPr>
          <p:cNvPr id="13" name="TextBox 13"/>
          <p:cNvSpPr txBox="1"/>
          <p:nvPr/>
        </p:nvSpPr>
        <p:spPr>
          <a:xfrm>
            <a:off x="17340129" y="9579915"/>
            <a:ext cx="183357" cy="364185"/>
          </a:xfrm>
          <a:prstGeom prst="rect">
            <a:avLst/>
          </a:prstGeom>
        </p:spPr>
        <p:txBody>
          <a:bodyPr lIns="0" tIns="0" rIns="0" bIns="0" rtlCol="0" anchor="t">
            <a:spAutoFit/>
          </a:bodyPr>
          <a:lstStyle/>
          <a:p>
            <a:pPr algn="ctr">
              <a:lnSpc>
                <a:spcPts val="2867"/>
              </a:lnSpc>
              <a:spcBef>
                <a:spcPct val="0"/>
              </a:spcBef>
            </a:pPr>
            <a:r>
              <a:rPr lang="en-US" sz="2389">
                <a:solidFill>
                  <a:srgbClr val="3A6A47"/>
                </a:solidFill>
                <a:latin typeface="DM Sans"/>
                <a:ea typeface="DM Sans"/>
                <a:cs typeface="DM Sans"/>
                <a:sym typeface="DM San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grpSp>
        <p:nvGrpSpPr>
          <p:cNvPr id="2" name="Group 2"/>
          <p:cNvGrpSpPr/>
          <p:nvPr/>
        </p:nvGrpSpPr>
        <p:grpSpPr>
          <a:xfrm>
            <a:off x="163162" y="2519221"/>
            <a:ext cx="8427042" cy="6900300"/>
            <a:chOff x="0" y="0"/>
            <a:chExt cx="2219468" cy="1817363"/>
          </a:xfrm>
        </p:grpSpPr>
        <p:sp>
          <p:nvSpPr>
            <p:cNvPr id="3" name="Freeform 3">
              <a:extLst>
                <a:ext uri="{C183D7F6-B498-43B3-948B-1728B52AA6E4}">
                  <adec:decorative xmlns:adec="http://schemas.microsoft.com/office/drawing/2017/decorative" val="1"/>
                </a:ext>
              </a:extLst>
            </p:cNvPr>
            <p:cNvSpPr/>
            <p:nvPr/>
          </p:nvSpPr>
          <p:spPr>
            <a:xfrm>
              <a:off x="0" y="0"/>
              <a:ext cx="2219468" cy="1817363"/>
            </a:xfrm>
            <a:custGeom>
              <a:avLst/>
              <a:gdLst/>
              <a:ahLst/>
              <a:cxnLst/>
              <a:rect l="l" t="t" r="r" b="b"/>
              <a:pathLst>
                <a:path w="2219468" h="1817363">
                  <a:moveTo>
                    <a:pt x="27561" y="0"/>
                  </a:moveTo>
                  <a:lnTo>
                    <a:pt x="2191907" y="0"/>
                  </a:lnTo>
                  <a:cubicBezTo>
                    <a:pt x="2199217" y="0"/>
                    <a:pt x="2206227" y="2904"/>
                    <a:pt x="2211395" y="8072"/>
                  </a:cubicBezTo>
                  <a:cubicBezTo>
                    <a:pt x="2216564" y="13241"/>
                    <a:pt x="2219468" y="20251"/>
                    <a:pt x="2219468" y="27561"/>
                  </a:cubicBezTo>
                  <a:lnTo>
                    <a:pt x="2219468" y="1789802"/>
                  </a:lnTo>
                  <a:cubicBezTo>
                    <a:pt x="2219468" y="1805023"/>
                    <a:pt x="2207128" y="1817363"/>
                    <a:pt x="2191907" y="1817363"/>
                  </a:cubicBezTo>
                  <a:lnTo>
                    <a:pt x="27561" y="1817363"/>
                  </a:lnTo>
                  <a:cubicBezTo>
                    <a:pt x="12339" y="1817363"/>
                    <a:pt x="0" y="1805023"/>
                    <a:pt x="0" y="1789802"/>
                  </a:cubicBezTo>
                  <a:lnTo>
                    <a:pt x="0" y="27561"/>
                  </a:lnTo>
                  <a:cubicBezTo>
                    <a:pt x="0" y="12339"/>
                    <a:pt x="12339" y="0"/>
                    <a:pt x="27561" y="0"/>
                  </a:cubicBezTo>
                  <a:close/>
                </a:path>
              </a:pathLst>
            </a:custGeom>
            <a:solidFill>
              <a:srgbClr val="98C299"/>
            </a:solidFill>
            <a:ln cap="rnd">
              <a:noFill/>
              <a:prstDash val="solid"/>
              <a:round/>
            </a:ln>
          </p:spPr>
        </p:sp>
        <p:sp>
          <p:nvSpPr>
            <p:cNvPr id="4" name="TextBox 4"/>
            <p:cNvSpPr txBox="1"/>
            <p:nvPr/>
          </p:nvSpPr>
          <p:spPr>
            <a:xfrm>
              <a:off x="0" y="-28575"/>
              <a:ext cx="2219468" cy="1845938"/>
            </a:xfrm>
            <a:prstGeom prst="rect">
              <a:avLst/>
            </a:prstGeom>
          </p:spPr>
          <p:txBody>
            <a:bodyPr lIns="50800" tIns="50800" rIns="50800" bIns="50800" rtlCol="0" anchor="ctr"/>
            <a:lstStyle/>
            <a:p>
              <a:pPr marL="0" lvl="0" indent="0" algn="ctr">
                <a:lnSpc>
                  <a:spcPts val="1910"/>
                </a:lnSpc>
                <a:spcBef>
                  <a:spcPct val="0"/>
                </a:spcBef>
              </a:pPr>
              <a:endParaRPr/>
            </a:p>
          </p:txBody>
        </p:sp>
      </p:grpSp>
      <p:sp>
        <p:nvSpPr>
          <p:cNvPr id="5" name="Freeform 5"/>
          <p:cNvSpPr/>
          <p:nvPr/>
        </p:nvSpPr>
        <p:spPr>
          <a:xfrm>
            <a:off x="7591161" y="3272305"/>
            <a:ext cx="10696839" cy="4980463"/>
          </a:xfrm>
          <a:custGeom>
            <a:avLst/>
            <a:gdLst/>
            <a:ahLst/>
            <a:cxnLst/>
            <a:rect l="l" t="t" r="r" b="b"/>
            <a:pathLst>
              <a:path w="10696839" h="4980463">
                <a:moveTo>
                  <a:pt x="0" y="0"/>
                </a:moveTo>
                <a:lnTo>
                  <a:pt x="10696839" y="0"/>
                </a:lnTo>
                <a:lnTo>
                  <a:pt x="10696839" y="4980463"/>
                </a:lnTo>
                <a:lnTo>
                  <a:pt x="0" y="4980463"/>
                </a:lnTo>
                <a:lnTo>
                  <a:pt x="0" y="0"/>
                </a:lnTo>
                <a:close/>
              </a:path>
            </a:pathLst>
          </a:custGeom>
          <a:blipFill>
            <a:blip r:embed="rId2"/>
            <a:stretch>
              <a:fillRect t="-1042" b="-170"/>
            </a:stretch>
          </a:blipFill>
        </p:spPr>
      </p:sp>
      <p:grpSp>
        <p:nvGrpSpPr>
          <p:cNvPr id="6" name="Group 6"/>
          <p:cNvGrpSpPr/>
          <p:nvPr/>
        </p:nvGrpSpPr>
        <p:grpSpPr>
          <a:xfrm>
            <a:off x="-628610" y="761119"/>
            <a:ext cx="6854678" cy="903627"/>
            <a:chOff x="0" y="0"/>
            <a:chExt cx="1805347" cy="237992"/>
          </a:xfrm>
        </p:grpSpPr>
        <p:sp>
          <p:nvSpPr>
            <p:cNvPr id="7" name="Freeform 7"/>
            <p:cNvSpPr/>
            <p:nvPr/>
          </p:nvSpPr>
          <p:spPr>
            <a:xfrm>
              <a:off x="0" y="0"/>
              <a:ext cx="1805347" cy="237992"/>
            </a:xfrm>
            <a:custGeom>
              <a:avLst/>
              <a:gdLst/>
              <a:ahLst/>
              <a:cxnLst/>
              <a:rect l="l" t="t" r="r" b="b"/>
              <a:pathLst>
                <a:path w="1805347" h="237992">
                  <a:moveTo>
                    <a:pt x="57601" y="0"/>
                  </a:moveTo>
                  <a:lnTo>
                    <a:pt x="1747746" y="0"/>
                  </a:lnTo>
                  <a:cubicBezTo>
                    <a:pt x="1763023" y="0"/>
                    <a:pt x="1777674" y="6069"/>
                    <a:pt x="1788476" y="16871"/>
                  </a:cubicBezTo>
                  <a:cubicBezTo>
                    <a:pt x="1799279" y="27673"/>
                    <a:pt x="1805347" y="42324"/>
                    <a:pt x="1805347" y="57601"/>
                  </a:cubicBezTo>
                  <a:lnTo>
                    <a:pt x="1805347" y="180391"/>
                  </a:lnTo>
                  <a:cubicBezTo>
                    <a:pt x="1805347" y="195668"/>
                    <a:pt x="1799279" y="210319"/>
                    <a:pt x="1788476" y="221121"/>
                  </a:cubicBezTo>
                  <a:cubicBezTo>
                    <a:pt x="1777674" y="231923"/>
                    <a:pt x="1763023" y="237992"/>
                    <a:pt x="1747746" y="237992"/>
                  </a:cubicBezTo>
                  <a:lnTo>
                    <a:pt x="57601" y="237992"/>
                  </a:lnTo>
                  <a:cubicBezTo>
                    <a:pt x="42324" y="237992"/>
                    <a:pt x="27673" y="231923"/>
                    <a:pt x="16871" y="221121"/>
                  </a:cubicBezTo>
                  <a:cubicBezTo>
                    <a:pt x="6069" y="210319"/>
                    <a:pt x="0" y="195668"/>
                    <a:pt x="0" y="180391"/>
                  </a:cubicBezTo>
                  <a:lnTo>
                    <a:pt x="0" y="57601"/>
                  </a:lnTo>
                  <a:cubicBezTo>
                    <a:pt x="0" y="42324"/>
                    <a:pt x="6069" y="27673"/>
                    <a:pt x="16871" y="16871"/>
                  </a:cubicBezTo>
                  <a:cubicBezTo>
                    <a:pt x="27673" y="6069"/>
                    <a:pt x="42324" y="0"/>
                    <a:pt x="57601" y="0"/>
                  </a:cubicBezTo>
                  <a:close/>
                </a:path>
              </a:pathLst>
            </a:custGeom>
            <a:solidFill>
              <a:srgbClr val="6AAE7C"/>
            </a:solidFill>
          </p:spPr>
        </p:sp>
        <p:sp>
          <p:nvSpPr>
            <p:cNvPr id="8" name="TextBox 8"/>
            <p:cNvSpPr txBox="1"/>
            <p:nvPr/>
          </p:nvSpPr>
          <p:spPr>
            <a:xfrm>
              <a:off x="0" y="0"/>
              <a:ext cx="1805347" cy="237992"/>
            </a:xfrm>
            <a:prstGeom prst="rect">
              <a:avLst/>
            </a:prstGeom>
          </p:spPr>
          <p:txBody>
            <a:bodyPr lIns="50800" tIns="50800" rIns="50800" bIns="50800" rtlCol="0" anchor="ctr"/>
            <a:lstStyle/>
            <a:p>
              <a:pPr algn="ctr">
                <a:lnSpc>
                  <a:spcPts val="2879"/>
                </a:lnSpc>
              </a:pPr>
              <a:r>
                <a:rPr lang="en-US" sz="2400">
                  <a:solidFill>
                    <a:srgbClr val="000000"/>
                  </a:solidFill>
                  <a:latin typeface="DM Sans"/>
                  <a:ea typeface="DM Sans"/>
                  <a:cs typeface="DM Sans"/>
                  <a:sym typeface="DM Sans"/>
                </a:rPr>
                <a:t>Total Items Sold vs Price per Category</a:t>
              </a:r>
            </a:p>
          </p:txBody>
        </p:sp>
      </p:grpSp>
      <p:sp>
        <p:nvSpPr>
          <p:cNvPr id="9" name="TextBox 9"/>
          <p:cNvSpPr txBox="1"/>
          <p:nvPr/>
        </p:nvSpPr>
        <p:spPr>
          <a:xfrm>
            <a:off x="163162" y="3272305"/>
            <a:ext cx="7189064" cy="5467350"/>
          </a:xfrm>
          <a:prstGeom prst="rect">
            <a:avLst/>
          </a:prstGeom>
        </p:spPr>
        <p:txBody>
          <a:bodyPr lIns="0" tIns="0" rIns="0" bIns="0" rtlCol="0" anchor="t">
            <a:spAutoFit/>
          </a:bodyPr>
          <a:lstStyle/>
          <a:p>
            <a:pPr marL="559830" lvl="1" indent="-279915" algn="l">
              <a:lnSpc>
                <a:spcPts val="3111"/>
              </a:lnSpc>
              <a:buFont typeface="Arial"/>
              <a:buChar char="•"/>
            </a:pPr>
            <a:r>
              <a:rPr lang="en-US" sz="2593">
                <a:solidFill>
                  <a:srgbClr val="000000"/>
                </a:solidFill>
                <a:latin typeface="DM Sans"/>
                <a:ea typeface="DM Sans"/>
                <a:cs typeface="DM Sans"/>
                <a:sym typeface="DM Sans"/>
              </a:rPr>
              <a:t>Items priced at </a:t>
            </a:r>
            <a:r>
              <a:rPr lang="en-US" sz="2593" b="1">
                <a:solidFill>
                  <a:srgbClr val="000000"/>
                </a:solidFill>
                <a:latin typeface="DM Sans Bold"/>
                <a:ea typeface="DM Sans Bold"/>
                <a:cs typeface="DM Sans Bold"/>
                <a:sym typeface="DM Sans Bold"/>
              </a:rPr>
              <a:t>12.95 and 5.00</a:t>
            </a:r>
            <a:r>
              <a:rPr lang="en-US" sz="2593">
                <a:solidFill>
                  <a:srgbClr val="000000"/>
                </a:solidFill>
                <a:latin typeface="DM Sans"/>
                <a:ea typeface="DM Sans"/>
                <a:cs typeface="DM Sans"/>
                <a:sym typeface="DM Sans"/>
              </a:rPr>
              <a:t> each reached </a:t>
            </a:r>
            <a:r>
              <a:rPr lang="en-US" sz="2593" b="1">
                <a:solidFill>
                  <a:srgbClr val="000000"/>
                </a:solidFill>
                <a:latin typeface="DM Sans Bold"/>
                <a:ea typeface="DM Sans Bold"/>
                <a:cs typeface="DM Sans Bold"/>
                <a:sym typeface="DM Sans Bold"/>
              </a:rPr>
              <a:t>622 orders</a:t>
            </a:r>
            <a:r>
              <a:rPr lang="en-US" sz="2593">
                <a:solidFill>
                  <a:srgbClr val="000000"/>
                </a:solidFill>
                <a:latin typeface="DM Sans"/>
                <a:ea typeface="DM Sans"/>
                <a:cs typeface="DM Sans"/>
                <a:sym typeface="DM Sans"/>
              </a:rPr>
              <a:t>, showing strong appeal at both low and mid price points.</a:t>
            </a:r>
          </a:p>
          <a:p>
            <a:pPr algn="l">
              <a:lnSpc>
                <a:spcPts val="3111"/>
              </a:lnSpc>
            </a:pPr>
            <a:endParaRPr lang="en-US" sz="2593">
              <a:solidFill>
                <a:srgbClr val="000000"/>
              </a:solidFill>
              <a:latin typeface="DM Sans"/>
              <a:ea typeface="DM Sans"/>
              <a:cs typeface="DM Sans"/>
              <a:sym typeface="DM Sans"/>
            </a:endParaRPr>
          </a:p>
          <a:p>
            <a:pPr marL="559830" lvl="1" indent="-279915" algn="l">
              <a:lnSpc>
                <a:spcPts val="3111"/>
              </a:lnSpc>
              <a:buFont typeface="Arial"/>
              <a:buChar char="•"/>
            </a:pPr>
            <a:r>
              <a:rPr lang="en-US" sz="2593">
                <a:solidFill>
                  <a:srgbClr val="000000"/>
                </a:solidFill>
                <a:latin typeface="DM Sans"/>
                <a:ea typeface="DM Sans"/>
                <a:cs typeface="DM Sans"/>
                <a:sym typeface="DM Sans"/>
              </a:rPr>
              <a:t>Higher priced items such as </a:t>
            </a:r>
            <a:r>
              <a:rPr lang="en-US" sz="2593" b="1">
                <a:solidFill>
                  <a:srgbClr val="000000"/>
                </a:solidFill>
                <a:latin typeface="DM Sans Bold"/>
                <a:ea typeface="DM Sans Bold"/>
                <a:cs typeface="DM Sans Bold"/>
                <a:sym typeface="DM Sans Bold"/>
              </a:rPr>
              <a:t>17.95 and 16.50</a:t>
            </a:r>
            <a:r>
              <a:rPr lang="en-US" sz="2593">
                <a:solidFill>
                  <a:srgbClr val="000000"/>
                </a:solidFill>
                <a:latin typeface="DM Sans"/>
                <a:ea typeface="DM Sans"/>
                <a:cs typeface="DM Sans"/>
                <a:sym typeface="DM Sans"/>
              </a:rPr>
              <a:t> still achieved </a:t>
            </a:r>
            <a:r>
              <a:rPr lang="en-US" sz="2593" b="1">
                <a:solidFill>
                  <a:srgbClr val="000000"/>
                </a:solidFill>
                <a:latin typeface="DM Sans Bold"/>
                <a:ea typeface="DM Sans Bold"/>
                <a:cs typeface="DM Sans Bold"/>
                <a:sym typeface="DM Sans Bold"/>
              </a:rPr>
              <a:t>over 450–580 orders</a:t>
            </a:r>
            <a:r>
              <a:rPr lang="en-US" sz="2593">
                <a:solidFill>
                  <a:srgbClr val="000000"/>
                </a:solidFill>
                <a:latin typeface="DM Sans"/>
                <a:ea typeface="DM Sans"/>
                <a:cs typeface="DM Sans"/>
                <a:sym typeface="DM Sans"/>
              </a:rPr>
              <a:t>, proving that customers are willing to purchase premium items when perceived value is high.</a:t>
            </a:r>
          </a:p>
          <a:p>
            <a:pPr algn="l">
              <a:lnSpc>
                <a:spcPts val="3111"/>
              </a:lnSpc>
            </a:pPr>
            <a:endParaRPr lang="en-US" sz="2593">
              <a:solidFill>
                <a:srgbClr val="000000"/>
              </a:solidFill>
              <a:latin typeface="DM Sans"/>
              <a:ea typeface="DM Sans"/>
              <a:cs typeface="DM Sans"/>
              <a:sym typeface="DM Sans"/>
            </a:endParaRPr>
          </a:p>
          <a:p>
            <a:pPr marL="559830" lvl="1" indent="-279915" algn="l">
              <a:lnSpc>
                <a:spcPts val="3111"/>
              </a:lnSpc>
              <a:buFont typeface="Arial"/>
              <a:buChar char="•"/>
            </a:pPr>
            <a:r>
              <a:rPr lang="en-US" sz="2593">
                <a:solidFill>
                  <a:srgbClr val="000000"/>
                </a:solidFill>
                <a:latin typeface="DM Sans"/>
                <a:ea typeface="DM Sans"/>
                <a:cs typeface="DM Sans"/>
                <a:sym typeface="DM Sans"/>
              </a:rPr>
              <a:t>Mid priced items between </a:t>
            </a:r>
            <a:r>
              <a:rPr lang="en-US" sz="2593" b="1">
                <a:solidFill>
                  <a:srgbClr val="000000"/>
                </a:solidFill>
                <a:latin typeface="DM Sans Bold"/>
                <a:ea typeface="DM Sans Bold"/>
                <a:cs typeface="DM Sans Bold"/>
                <a:sym typeface="DM Sans Bold"/>
              </a:rPr>
              <a:t>13.95 and 14.50</a:t>
            </a:r>
            <a:r>
              <a:rPr lang="en-US" sz="2593">
                <a:solidFill>
                  <a:srgbClr val="000000"/>
                </a:solidFill>
                <a:latin typeface="DM Sans"/>
                <a:ea typeface="DM Sans"/>
                <a:cs typeface="DM Sans"/>
                <a:sym typeface="DM Sans"/>
              </a:rPr>
              <a:t> consistently appear among top sellers, indicating a strong customer preference for balanced price to value offerings.</a:t>
            </a:r>
          </a:p>
        </p:txBody>
      </p:sp>
      <p:sp>
        <p:nvSpPr>
          <p:cNvPr id="10" name="TextBox 10"/>
          <p:cNvSpPr txBox="1"/>
          <p:nvPr/>
        </p:nvSpPr>
        <p:spPr>
          <a:xfrm>
            <a:off x="17299159" y="9579915"/>
            <a:ext cx="265299" cy="364185"/>
          </a:xfrm>
          <a:prstGeom prst="rect">
            <a:avLst/>
          </a:prstGeom>
        </p:spPr>
        <p:txBody>
          <a:bodyPr lIns="0" tIns="0" rIns="0" bIns="0" rtlCol="0" anchor="t">
            <a:spAutoFit/>
          </a:bodyPr>
          <a:lstStyle/>
          <a:p>
            <a:pPr algn="ctr">
              <a:lnSpc>
                <a:spcPts val="2867"/>
              </a:lnSpc>
              <a:spcBef>
                <a:spcPct val="0"/>
              </a:spcBef>
            </a:pPr>
            <a:r>
              <a:rPr lang="en-US" sz="2389">
                <a:solidFill>
                  <a:srgbClr val="3A6A47"/>
                </a:solidFill>
                <a:latin typeface="DM Sans"/>
                <a:ea typeface="DM Sans"/>
                <a:cs typeface="DM Sans"/>
                <a:sym typeface="DM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281547" y="2415195"/>
            <a:ext cx="11141461" cy="3454837"/>
            <a:chOff x="0" y="0"/>
            <a:chExt cx="2934377" cy="909916"/>
          </a:xfrm>
        </p:grpSpPr>
        <p:sp>
          <p:nvSpPr>
            <p:cNvPr id="3" name="Freeform 3">
              <a:extLst>
                <a:ext uri="{C183D7F6-B498-43B3-948B-1728B52AA6E4}">
                  <adec:decorative xmlns:adec="http://schemas.microsoft.com/office/drawing/2017/decorative" val="1"/>
                </a:ext>
              </a:extLst>
            </p:cNvPr>
            <p:cNvSpPr/>
            <p:nvPr/>
          </p:nvSpPr>
          <p:spPr>
            <a:xfrm>
              <a:off x="0" y="0"/>
              <a:ext cx="2934377" cy="909916"/>
            </a:xfrm>
            <a:custGeom>
              <a:avLst/>
              <a:gdLst/>
              <a:ahLst/>
              <a:cxnLst/>
              <a:rect l="l" t="t" r="r" b="b"/>
              <a:pathLst>
                <a:path w="2934377" h="909916">
                  <a:moveTo>
                    <a:pt x="12508" y="0"/>
                  </a:moveTo>
                  <a:lnTo>
                    <a:pt x="2921869" y="0"/>
                  </a:lnTo>
                  <a:cubicBezTo>
                    <a:pt x="2925186" y="0"/>
                    <a:pt x="2928368" y="1318"/>
                    <a:pt x="2930713" y="3663"/>
                  </a:cubicBezTo>
                  <a:cubicBezTo>
                    <a:pt x="2933059" y="6009"/>
                    <a:pt x="2934377" y="9190"/>
                    <a:pt x="2934377" y="12508"/>
                  </a:cubicBezTo>
                  <a:lnTo>
                    <a:pt x="2934377" y="897408"/>
                  </a:lnTo>
                  <a:cubicBezTo>
                    <a:pt x="2934377" y="900725"/>
                    <a:pt x="2933059" y="903907"/>
                    <a:pt x="2930713" y="906253"/>
                  </a:cubicBezTo>
                  <a:cubicBezTo>
                    <a:pt x="2928368" y="908598"/>
                    <a:pt x="2925186" y="909916"/>
                    <a:pt x="2921869" y="909916"/>
                  </a:cubicBezTo>
                  <a:lnTo>
                    <a:pt x="12508" y="909916"/>
                  </a:lnTo>
                  <a:cubicBezTo>
                    <a:pt x="9190" y="909916"/>
                    <a:pt x="6009" y="908598"/>
                    <a:pt x="3663" y="906253"/>
                  </a:cubicBezTo>
                  <a:cubicBezTo>
                    <a:pt x="1318" y="903907"/>
                    <a:pt x="0" y="900725"/>
                    <a:pt x="0" y="897408"/>
                  </a:cubicBezTo>
                  <a:lnTo>
                    <a:pt x="0" y="12508"/>
                  </a:lnTo>
                  <a:cubicBezTo>
                    <a:pt x="0" y="9190"/>
                    <a:pt x="1318" y="6009"/>
                    <a:pt x="3663" y="3663"/>
                  </a:cubicBezTo>
                  <a:cubicBezTo>
                    <a:pt x="6009" y="1318"/>
                    <a:pt x="9190" y="0"/>
                    <a:pt x="12508" y="0"/>
                  </a:cubicBezTo>
                  <a:close/>
                </a:path>
              </a:pathLst>
            </a:custGeom>
            <a:solidFill>
              <a:srgbClr val="F1F5EE"/>
            </a:solidFill>
          </p:spPr>
        </p:sp>
        <p:sp>
          <p:nvSpPr>
            <p:cNvPr id="4" name="TextBox 4"/>
            <p:cNvSpPr txBox="1"/>
            <p:nvPr/>
          </p:nvSpPr>
          <p:spPr>
            <a:xfrm>
              <a:off x="0" y="-47625"/>
              <a:ext cx="2934377" cy="957541"/>
            </a:xfrm>
            <a:prstGeom prst="rect">
              <a:avLst/>
            </a:prstGeom>
          </p:spPr>
          <p:txBody>
            <a:bodyPr lIns="50800" tIns="50800" rIns="50800" bIns="50800" rtlCol="0" anchor="ctr"/>
            <a:lstStyle/>
            <a:p>
              <a:pPr algn="ctr">
                <a:lnSpc>
                  <a:spcPts val="2939"/>
                </a:lnSpc>
              </a:pPr>
              <a:endParaRPr/>
            </a:p>
          </p:txBody>
        </p:sp>
      </p:grpSp>
      <p:sp>
        <p:nvSpPr>
          <p:cNvPr id="5" name="Freeform 5"/>
          <p:cNvSpPr/>
          <p:nvPr/>
        </p:nvSpPr>
        <p:spPr>
          <a:xfrm>
            <a:off x="476871" y="2570480"/>
            <a:ext cx="6577861" cy="2970647"/>
          </a:xfrm>
          <a:custGeom>
            <a:avLst/>
            <a:gdLst/>
            <a:ahLst/>
            <a:cxnLst/>
            <a:rect l="l" t="t" r="r" b="b"/>
            <a:pathLst>
              <a:path w="6577861" h="2970647">
                <a:moveTo>
                  <a:pt x="0" y="0"/>
                </a:moveTo>
                <a:lnTo>
                  <a:pt x="6577861" y="0"/>
                </a:lnTo>
                <a:lnTo>
                  <a:pt x="6577861" y="2970646"/>
                </a:lnTo>
                <a:lnTo>
                  <a:pt x="0" y="2970646"/>
                </a:lnTo>
                <a:lnTo>
                  <a:pt x="0" y="0"/>
                </a:lnTo>
                <a:close/>
              </a:path>
            </a:pathLst>
          </a:custGeom>
          <a:blipFill>
            <a:blip r:embed="rId2"/>
            <a:stretch>
              <a:fillRect/>
            </a:stretch>
          </a:blipFill>
        </p:spPr>
      </p:sp>
      <p:grpSp>
        <p:nvGrpSpPr>
          <p:cNvPr id="6" name="Group 6"/>
          <p:cNvGrpSpPr/>
          <p:nvPr/>
        </p:nvGrpSpPr>
        <p:grpSpPr>
          <a:xfrm>
            <a:off x="4996428" y="6023968"/>
            <a:ext cx="11811299" cy="4024895"/>
            <a:chOff x="0" y="0"/>
            <a:chExt cx="3110795" cy="1060055"/>
          </a:xfrm>
        </p:grpSpPr>
        <p:sp>
          <p:nvSpPr>
            <p:cNvPr id="7" name="Freeform 7">
              <a:extLst>
                <a:ext uri="{C183D7F6-B498-43B3-948B-1728B52AA6E4}">
                  <adec:decorative xmlns:adec="http://schemas.microsoft.com/office/drawing/2017/decorative" val="1"/>
                </a:ext>
              </a:extLst>
            </p:cNvPr>
            <p:cNvSpPr/>
            <p:nvPr/>
          </p:nvSpPr>
          <p:spPr>
            <a:xfrm>
              <a:off x="0" y="0"/>
              <a:ext cx="3110795" cy="1060055"/>
            </a:xfrm>
            <a:custGeom>
              <a:avLst/>
              <a:gdLst/>
              <a:ahLst/>
              <a:cxnLst/>
              <a:rect l="l" t="t" r="r" b="b"/>
              <a:pathLst>
                <a:path w="3110795" h="1060055">
                  <a:moveTo>
                    <a:pt x="19664" y="0"/>
                  </a:moveTo>
                  <a:lnTo>
                    <a:pt x="3091131" y="0"/>
                  </a:lnTo>
                  <a:cubicBezTo>
                    <a:pt x="3096346" y="0"/>
                    <a:pt x="3101348" y="2072"/>
                    <a:pt x="3105035" y="5759"/>
                  </a:cubicBezTo>
                  <a:cubicBezTo>
                    <a:pt x="3108723" y="9447"/>
                    <a:pt x="3110795" y="14449"/>
                    <a:pt x="3110795" y="19664"/>
                  </a:cubicBezTo>
                  <a:lnTo>
                    <a:pt x="3110795" y="1040391"/>
                  </a:lnTo>
                  <a:cubicBezTo>
                    <a:pt x="3110795" y="1051251"/>
                    <a:pt x="3101991" y="1060055"/>
                    <a:pt x="3091131" y="1060055"/>
                  </a:cubicBezTo>
                  <a:lnTo>
                    <a:pt x="19664" y="1060055"/>
                  </a:lnTo>
                  <a:cubicBezTo>
                    <a:pt x="14449" y="1060055"/>
                    <a:pt x="9447" y="1057983"/>
                    <a:pt x="5759" y="1054295"/>
                  </a:cubicBezTo>
                  <a:cubicBezTo>
                    <a:pt x="2072" y="1050608"/>
                    <a:pt x="0" y="1045606"/>
                    <a:pt x="0" y="1040391"/>
                  </a:cubicBezTo>
                  <a:lnTo>
                    <a:pt x="0" y="19664"/>
                  </a:lnTo>
                  <a:cubicBezTo>
                    <a:pt x="0" y="14449"/>
                    <a:pt x="2072" y="9447"/>
                    <a:pt x="5759" y="5759"/>
                  </a:cubicBezTo>
                  <a:cubicBezTo>
                    <a:pt x="9447" y="2072"/>
                    <a:pt x="14449" y="0"/>
                    <a:pt x="19664" y="0"/>
                  </a:cubicBezTo>
                  <a:close/>
                </a:path>
              </a:pathLst>
            </a:custGeom>
            <a:solidFill>
              <a:srgbClr val="C7D9B9"/>
            </a:solidFill>
            <a:ln cap="rnd">
              <a:noFill/>
              <a:prstDash val="solid"/>
              <a:round/>
            </a:ln>
          </p:spPr>
        </p:sp>
        <p:sp>
          <p:nvSpPr>
            <p:cNvPr id="8" name="TextBox 8"/>
            <p:cNvSpPr txBox="1"/>
            <p:nvPr/>
          </p:nvSpPr>
          <p:spPr>
            <a:xfrm>
              <a:off x="0" y="-28575"/>
              <a:ext cx="3110795" cy="1088630"/>
            </a:xfrm>
            <a:prstGeom prst="rect">
              <a:avLst/>
            </a:prstGeom>
          </p:spPr>
          <p:txBody>
            <a:bodyPr lIns="50800" tIns="50800" rIns="50800" bIns="50800" rtlCol="0" anchor="ctr"/>
            <a:lstStyle/>
            <a:p>
              <a:pPr marL="0" lvl="0" indent="0" algn="ctr">
                <a:lnSpc>
                  <a:spcPts val="1910"/>
                </a:lnSpc>
                <a:spcBef>
                  <a:spcPct val="0"/>
                </a:spcBef>
              </a:pPr>
              <a:endParaRPr/>
            </a:p>
          </p:txBody>
        </p:sp>
      </p:grpSp>
      <p:sp>
        <p:nvSpPr>
          <p:cNvPr id="9" name="Freeform 9"/>
          <p:cNvSpPr/>
          <p:nvPr/>
        </p:nvSpPr>
        <p:spPr>
          <a:xfrm>
            <a:off x="5584566" y="6251569"/>
            <a:ext cx="5317512" cy="3569695"/>
          </a:xfrm>
          <a:custGeom>
            <a:avLst/>
            <a:gdLst/>
            <a:ahLst/>
            <a:cxnLst/>
            <a:rect l="l" t="t" r="r" b="b"/>
            <a:pathLst>
              <a:path w="5317512" h="3569695">
                <a:moveTo>
                  <a:pt x="0" y="0"/>
                </a:moveTo>
                <a:lnTo>
                  <a:pt x="5317512" y="0"/>
                </a:lnTo>
                <a:lnTo>
                  <a:pt x="5317512" y="3569694"/>
                </a:lnTo>
                <a:lnTo>
                  <a:pt x="0" y="3569694"/>
                </a:lnTo>
                <a:lnTo>
                  <a:pt x="0" y="0"/>
                </a:lnTo>
                <a:close/>
              </a:path>
            </a:pathLst>
          </a:custGeom>
          <a:blipFill>
            <a:blip r:embed="rId3"/>
            <a:stretch>
              <a:fillRect/>
            </a:stretch>
          </a:blipFill>
        </p:spPr>
      </p:sp>
      <p:grpSp>
        <p:nvGrpSpPr>
          <p:cNvPr id="10" name="Group 10"/>
          <p:cNvGrpSpPr/>
          <p:nvPr/>
        </p:nvGrpSpPr>
        <p:grpSpPr>
          <a:xfrm>
            <a:off x="11423009" y="6896658"/>
            <a:ext cx="4935965" cy="2279516"/>
            <a:chOff x="0" y="0"/>
            <a:chExt cx="1300007" cy="600366"/>
          </a:xfrm>
        </p:grpSpPr>
        <p:sp>
          <p:nvSpPr>
            <p:cNvPr id="11" name="Freeform 11">
              <a:extLst>
                <a:ext uri="{C183D7F6-B498-43B3-948B-1728B52AA6E4}">
                  <adec:decorative xmlns:adec="http://schemas.microsoft.com/office/drawing/2017/decorative" val="1"/>
                </a:ext>
              </a:extLst>
            </p:cNvPr>
            <p:cNvSpPr/>
            <p:nvPr/>
          </p:nvSpPr>
          <p:spPr>
            <a:xfrm>
              <a:off x="0" y="0"/>
              <a:ext cx="1300007" cy="600366"/>
            </a:xfrm>
            <a:custGeom>
              <a:avLst/>
              <a:gdLst/>
              <a:ahLst/>
              <a:cxnLst/>
              <a:rect l="l" t="t" r="r" b="b"/>
              <a:pathLst>
                <a:path w="1300007" h="600366">
                  <a:moveTo>
                    <a:pt x="28232" y="0"/>
                  </a:moveTo>
                  <a:lnTo>
                    <a:pt x="1271775" y="0"/>
                  </a:lnTo>
                  <a:cubicBezTo>
                    <a:pt x="1279262" y="0"/>
                    <a:pt x="1286443" y="2974"/>
                    <a:pt x="1291738" y="8269"/>
                  </a:cubicBezTo>
                  <a:cubicBezTo>
                    <a:pt x="1297033" y="13564"/>
                    <a:pt x="1300007" y="20745"/>
                    <a:pt x="1300007" y="28232"/>
                  </a:cubicBezTo>
                  <a:lnTo>
                    <a:pt x="1300007" y="572134"/>
                  </a:lnTo>
                  <a:cubicBezTo>
                    <a:pt x="1300007" y="579622"/>
                    <a:pt x="1297033" y="586803"/>
                    <a:pt x="1291738" y="592097"/>
                  </a:cubicBezTo>
                  <a:cubicBezTo>
                    <a:pt x="1286443" y="597392"/>
                    <a:pt x="1279262" y="600366"/>
                    <a:pt x="1271775" y="600366"/>
                  </a:cubicBezTo>
                  <a:lnTo>
                    <a:pt x="28232" y="600366"/>
                  </a:lnTo>
                  <a:cubicBezTo>
                    <a:pt x="20745" y="600366"/>
                    <a:pt x="13564" y="597392"/>
                    <a:pt x="8269" y="592097"/>
                  </a:cubicBezTo>
                  <a:cubicBezTo>
                    <a:pt x="2974" y="586803"/>
                    <a:pt x="0" y="579622"/>
                    <a:pt x="0" y="572134"/>
                  </a:cubicBezTo>
                  <a:lnTo>
                    <a:pt x="0" y="28232"/>
                  </a:lnTo>
                  <a:cubicBezTo>
                    <a:pt x="0" y="20745"/>
                    <a:pt x="2974" y="13564"/>
                    <a:pt x="8269" y="8269"/>
                  </a:cubicBezTo>
                  <a:cubicBezTo>
                    <a:pt x="13564" y="2974"/>
                    <a:pt x="20745" y="0"/>
                    <a:pt x="28232" y="0"/>
                  </a:cubicBezTo>
                  <a:close/>
                </a:path>
              </a:pathLst>
            </a:custGeom>
            <a:solidFill>
              <a:srgbClr val="000000">
                <a:alpha val="0"/>
              </a:srgbClr>
            </a:solidFill>
          </p:spPr>
        </p:sp>
        <p:sp>
          <p:nvSpPr>
            <p:cNvPr id="12" name="TextBox 12"/>
            <p:cNvSpPr txBox="1"/>
            <p:nvPr/>
          </p:nvSpPr>
          <p:spPr>
            <a:xfrm>
              <a:off x="0" y="-47625"/>
              <a:ext cx="1300007" cy="647991"/>
            </a:xfrm>
            <a:prstGeom prst="rect">
              <a:avLst/>
            </a:prstGeom>
          </p:spPr>
          <p:txBody>
            <a:bodyPr lIns="50800" tIns="50800" rIns="50800" bIns="50800" rtlCol="0" anchor="ctr"/>
            <a:lstStyle/>
            <a:p>
              <a:pPr algn="ctr">
                <a:lnSpc>
                  <a:spcPts val="2939"/>
                </a:lnSpc>
              </a:pPr>
              <a:r>
                <a:rPr lang="en-US" sz="2099" b="1">
                  <a:solidFill>
                    <a:srgbClr val="000000"/>
                  </a:solidFill>
                  <a:latin typeface="DM Sans Bold"/>
                  <a:ea typeface="DM Sans Bold"/>
                  <a:cs typeface="DM Sans Bold"/>
                  <a:sym typeface="DM Sans Bold"/>
                </a:rPr>
                <a:t>Most customers purchase 1–4 items per order, showing typical individual or small group ordering patterns.</a:t>
              </a:r>
            </a:p>
          </p:txBody>
        </p:sp>
      </p:grpSp>
      <p:grpSp>
        <p:nvGrpSpPr>
          <p:cNvPr id="13" name="Group 13"/>
          <p:cNvGrpSpPr/>
          <p:nvPr/>
        </p:nvGrpSpPr>
        <p:grpSpPr>
          <a:xfrm>
            <a:off x="-1997328" y="139929"/>
            <a:ext cx="7581894" cy="2122866"/>
            <a:chOff x="0" y="0"/>
            <a:chExt cx="1996877" cy="559109"/>
          </a:xfrm>
        </p:grpSpPr>
        <p:sp>
          <p:nvSpPr>
            <p:cNvPr id="14" name="Freeform 14"/>
            <p:cNvSpPr/>
            <p:nvPr/>
          </p:nvSpPr>
          <p:spPr>
            <a:xfrm>
              <a:off x="0" y="0"/>
              <a:ext cx="1996877" cy="559109"/>
            </a:xfrm>
            <a:custGeom>
              <a:avLst/>
              <a:gdLst/>
              <a:ahLst/>
              <a:cxnLst/>
              <a:rect l="l" t="t" r="r" b="b"/>
              <a:pathLst>
                <a:path w="1996877" h="559109">
                  <a:moveTo>
                    <a:pt x="52076" y="0"/>
                  </a:moveTo>
                  <a:lnTo>
                    <a:pt x="1944801" y="0"/>
                  </a:lnTo>
                  <a:cubicBezTo>
                    <a:pt x="1958612" y="0"/>
                    <a:pt x="1971858" y="5487"/>
                    <a:pt x="1981625" y="15253"/>
                  </a:cubicBezTo>
                  <a:cubicBezTo>
                    <a:pt x="1991391" y="25019"/>
                    <a:pt x="1996877" y="38265"/>
                    <a:pt x="1996877" y="52076"/>
                  </a:cubicBezTo>
                  <a:lnTo>
                    <a:pt x="1996877" y="507032"/>
                  </a:lnTo>
                  <a:cubicBezTo>
                    <a:pt x="1996877" y="520844"/>
                    <a:pt x="1991391" y="534090"/>
                    <a:pt x="1981625" y="543856"/>
                  </a:cubicBezTo>
                  <a:cubicBezTo>
                    <a:pt x="1971858" y="553622"/>
                    <a:pt x="1958612" y="559109"/>
                    <a:pt x="1944801" y="559109"/>
                  </a:cubicBezTo>
                  <a:lnTo>
                    <a:pt x="52076" y="559109"/>
                  </a:lnTo>
                  <a:cubicBezTo>
                    <a:pt x="38265" y="559109"/>
                    <a:pt x="25019" y="553622"/>
                    <a:pt x="15253" y="543856"/>
                  </a:cubicBezTo>
                  <a:cubicBezTo>
                    <a:pt x="5487" y="534090"/>
                    <a:pt x="0" y="520844"/>
                    <a:pt x="0" y="507032"/>
                  </a:cubicBezTo>
                  <a:lnTo>
                    <a:pt x="0" y="52076"/>
                  </a:lnTo>
                  <a:cubicBezTo>
                    <a:pt x="0" y="38265"/>
                    <a:pt x="5487" y="25019"/>
                    <a:pt x="15253" y="15253"/>
                  </a:cubicBezTo>
                  <a:cubicBezTo>
                    <a:pt x="25019" y="5487"/>
                    <a:pt x="38265" y="0"/>
                    <a:pt x="52076" y="0"/>
                  </a:cubicBezTo>
                  <a:close/>
                </a:path>
              </a:pathLst>
            </a:custGeom>
            <a:solidFill>
              <a:srgbClr val="98C299"/>
            </a:solidFill>
          </p:spPr>
        </p:sp>
        <p:sp>
          <p:nvSpPr>
            <p:cNvPr id="15" name="TextBox 15"/>
            <p:cNvSpPr txBox="1"/>
            <p:nvPr/>
          </p:nvSpPr>
          <p:spPr>
            <a:xfrm>
              <a:off x="0" y="0"/>
              <a:ext cx="1996877" cy="559109"/>
            </a:xfrm>
            <a:prstGeom prst="rect">
              <a:avLst/>
            </a:prstGeom>
          </p:spPr>
          <p:txBody>
            <a:bodyPr lIns="50800" tIns="50800" rIns="50800" bIns="50800" rtlCol="0" anchor="ctr"/>
            <a:lstStyle/>
            <a:p>
              <a:pPr algn="ctr">
                <a:lnSpc>
                  <a:spcPts val="2879"/>
                </a:lnSpc>
              </a:pPr>
              <a:endParaRPr/>
            </a:p>
          </p:txBody>
        </p:sp>
      </p:grpSp>
      <p:sp>
        <p:nvSpPr>
          <p:cNvPr id="16" name="TextBox 16"/>
          <p:cNvSpPr txBox="1"/>
          <p:nvPr/>
        </p:nvSpPr>
        <p:spPr>
          <a:xfrm>
            <a:off x="476871" y="539192"/>
            <a:ext cx="4718816" cy="1419591"/>
          </a:xfrm>
          <a:prstGeom prst="rect">
            <a:avLst/>
          </a:prstGeom>
        </p:spPr>
        <p:txBody>
          <a:bodyPr lIns="0" tIns="0" rIns="0" bIns="0" rtlCol="0" anchor="t">
            <a:spAutoFit/>
          </a:bodyPr>
          <a:lstStyle/>
          <a:p>
            <a:pPr marL="0" lvl="0" indent="0" algn="l">
              <a:lnSpc>
                <a:spcPts val="5421"/>
              </a:lnSpc>
            </a:pPr>
            <a:r>
              <a:rPr lang="en-US" sz="5421" spc="-162">
                <a:solidFill>
                  <a:srgbClr val="F1F5EE"/>
                </a:solidFill>
                <a:latin typeface="DM Sans"/>
                <a:ea typeface="DM Sans"/>
                <a:cs typeface="DM Sans"/>
                <a:sym typeface="DM Sans"/>
              </a:rPr>
              <a:t>Detailed Order Breakdown</a:t>
            </a:r>
          </a:p>
        </p:txBody>
      </p:sp>
      <p:sp>
        <p:nvSpPr>
          <p:cNvPr id="17" name="TextBox 17"/>
          <p:cNvSpPr txBox="1"/>
          <p:nvPr/>
        </p:nvSpPr>
        <p:spPr>
          <a:xfrm>
            <a:off x="7385922" y="3418713"/>
            <a:ext cx="3516155" cy="1447800"/>
          </a:xfrm>
          <a:prstGeom prst="rect">
            <a:avLst/>
          </a:prstGeom>
        </p:spPr>
        <p:txBody>
          <a:bodyPr lIns="0" tIns="0" rIns="0" bIns="0" rtlCol="0" anchor="t">
            <a:spAutoFit/>
          </a:bodyPr>
          <a:lstStyle/>
          <a:p>
            <a:pPr algn="ctr">
              <a:lnSpc>
                <a:spcPts val="2879"/>
              </a:lnSpc>
              <a:spcBef>
                <a:spcPct val="0"/>
              </a:spcBef>
            </a:pPr>
            <a:r>
              <a:rPr lang="en-US" sz="2400" b="1">
                <a:solidFill>
                  <a:srgbClr val="000000"/>
                </a:solidFill>
                <a:latin typeface="DM Sans Bold"/>
                <a:ea typeface="DM Sans Bold"/>
                <a:cs typeface="DM Sans Bold"/>
                <a:sym typeface="DM Sans Bold"/>
              </a:rPr>
              <a:t>Premium categories, especially Italian, dominate high spend orders.</a:t>
            </a:r>
          </a:p>
        </p:txBody>
      </p:sp>
      <p:sp>
        <p:nvSpPr>
          <p:cNvPr id="18" name="TextBox 18"/>
          <p:cNvSpPr txBox="1"/>
          <p:nvPr/>
        </p:nvSpPr>
        <p:spPr>
          <a:xfrm>
            <a:off x="17296732" y="9579915"/>
            <a:ext cx="270153"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3238350" y="3131052"/>
            <a:ext cx="11811299" cy="4024895"/>
            <a:chOff x="0" y="0"/>
            <a:chExt cx="3110795" cy="1060055"/>
          </a:xfrm>
        </p:grpSpPr>
        <p:sp>
          <p:nvSpPr>
            <p:cNvPr id="3" name="Freeform 3">
              <a:extLst>
                <a:ext uri="{C183D7F6-B498-43B3-948B-1728B52AA6E4}">
                  <adec:decorative xmlns:adec="http://schemas.microsoft.com/office/drawing/2017/decorative" val="1"/>
                </a:ext>
              </a:extLst>
            </p:cNvPr>
            <p:cNvSpPr/>
            <p:nvPr/>
          </p:nvSpPr>
          <p:spPr>
            <a:xfrm>
              <a:off x="0" y="0"/>
              <a:ext cx="3110795" cy="1060055"/>
            </a:xfrm>
            <a:custGeom>
              <a:avLst/>
              <a:gdLst/>
              <a:ahLst/>
              <a:cxnLst/>
              <a:rect l="l" t="t" r="r" b="b"/>
              <a:pathLst>
                <a:path w="3110795" h="1060055">
                  <a:moveTo>
                    <a:pt x="19664" y="0"/>
                  </a:moveTo>
                  <a:lnTo>
                    <a:pt x="3091131" y="0"/>
                  </a:lnTo>
                  <a:cubicBezTo>
                    <a:pt x="3096346" y="0"/>
                    <a:pt x="3101348" y="2072"/>
                    <a:pt x="3105035" y="5759"/>
                  </a:cubicBezTo>
                  <a:cubicBezTo>
                    <a:pt x="3108723" y="9447"/>
                    <a:pt x="3110795" y="14449"/>
                    <a:pt x="3110795" y="19664"/>
                  </a:cubicBezTo>
                  <a:lnTo>
                    <a:pt x="3110795" y="1040391"/>
                  </a:lnTo>
                  <a:cubicBezTo>
                    <a:pt x="3110795" y="1051251"/>
                    <a:pt x="3101991" y="1060055"/>
                    <a:pt x="3091131" y="1060055"/>
                  </a:cubicBezTo>
                  <a:lnTo>
                    <a:pt x="19664" y="1060055"/>
                  </a:lnTo>
                  <a:cubicBezTo>
                    <a:pt x="14449" y="1060055"/>
                    <a:pt x="9447" y="1057983"/>
                    <a:pt x="5759" y="1054295"/>
                  </a:cubicBezTo>
                  <a:cubicBezTo>
                    <a:pt x="2072" y="1050608"/>
                    <a:pt x="0" y="1045606"/>
                    <a:pt x="0" y="1040391"/>
                  </a:cubicBezTo>
                  <a:lnTo>
                    <a:pt x="0" y="19664"/>
                  </a:lnTo>
                  <a:cubicBezTo>
                    <a:pt x="0" y="14449"/>
                    <a:pt x="2072" y="9447"/>
                    <a:pt x="5759" y="5759"/>
                  </a:cubicBezTo>
                  <a:cubicBezTo>
                    <a:pt x="9447" y="2072"/>
                    <a:pt x="14449" y="0"/>
                    <a:pt x="19664" y="0"/>
                  </a:cubicBezTo>
                  <a:close/>
                </a:path>
              </a:pathLst>
            </a:custGeom>
            <a:solidFill>
              <a:srgbClr val="C7D9B9"/>
            </a:solidFill>
            <a:ln cap="rnd">
              <a:noFill/>
              <a:prstDash val="solid"/>
              <a:round/>
            </a:ln>
          </p:spPr>
        </p:sp>
        <p:sp>
          <p:nvSpPr>
            <p:cNvPr id="4" name="TextBox 4"/>
            <p:cNvSpPr txBox="1"/>
            <p:nvPr/>
          </p:nvSpPr>
          <p:spPr>
            <a:xfrm>
              <a:off x="0" y="-28575"/>
              <a:ext cx="3110795" cy="1088630"/>
            </a:xfrm>
            <a:prstGeom prst="rect">
              <a:avLst/>
            </a:prstGeom>
          </p:spPr>
          <p:txBody>
            <a:bodyPr lIns="50800" tIns="50800" rIns="50800" bIns="50800" rtlCol="0" anchor="ctr"/>
            <a:lstStyle/>
            <a:p>
              <a:pPr marL="0" lvl="0" indent="0" algn="ctr">
                <a:lnSpc>
                  <a:spcPts val="1910"/>
                </a:lnSpc>
                <a:spcBef>
                  <a:spcPct val="0"/>
                </a:spcBef>
              </a:pPr>
              <a:endParaRPr/>
            </a:p>
          </p:txBody>
        </p:sp>
      </p:grpSp>
      <p:sp>
        <p:nvSpPr>
          <p:cNvPr id="5" name="TextBox 5"/>
          <p:cNvSpPr txBox="1"/>
          <p:nvPr/>
        </p:nvSpPr>
        <p:spPr>
          <a:xfrm>
            <a:off x="17296732" y="9579915"/>
            <a:ext cx="270153"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13</a:t>
            </a:r>
          </a:p>
        </p:txBody>
      </p:sp>
      <p:sp>
        <p:nvSpPr>
          <p:cNvPr id="6" name="TextBox 6"/>
          <p:cNvSpPr txBox="1"/>
          <p:nvPr/>
        </p:nvSpPr>
        <p:spPr>
          <a:xfrm>
            <a:off x="4119881" y="4048125"/>
            <a:ext cx="10048237" cy="2352675"/>
          </a:xfrm>
          <a:prstGeom prst="rect">
            <a:avLst/>
          </a:prstGeom>
        </p:spPr>
        <p:txBody>
          <a:bodyPr lIns="0" tIns="0" rIns="0" bIns="0" rtlCol="0" anchor="t">
            <a:spAutoFit/>
          </a:bodyPr>
          <a:lstStyle/>
          <a:p>
            <a:pPr marL="0" lvl="0" indent="0" algn="l">
              <a:lnSpc>
                <a:spcPts val="9000"/>
              </a:lnSpc>
            </a:pPr>
            <a:r>
              <a:rPr lang="en-US" sz="9000" spc="-270">
                <a:solidFill>
                  <a:srgbClr val="000000"/>
                </a:solidFill>
                <a:latin typeface="DM Sans"/>
                <a:ea typeface="DM Sans"/>
                <a:cs typeface="DM Sans"/>
                <a:sym typeface="DM Sans"/>
              </a:rPr>
              <a:t>Insights &amp; Recommendations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1074587" y="381563"/>
            <a:ext cx="7549163" cy="1332937"/>
            <a:chOff x="0" y="0"/>
            <a:chExt cx="1988257" cy="351062"/>
          </a:xfrm>
        </p:grpSpPr>
        <p:sp>
          <p:nvSpPr>
            <p:cNvPr id="3" name="Freeform 3"/>
            <p:cNvSpPr/>
            <p:nvPr/>
          </p:nvSpPr>
          <p:spPr>
            <a:xfrm>
              <a:off x="0" y="0"/>
              <a:ext cx="1988257" cy="351062"/>
            </a:xfrm>
            <a:custGeom>
              <a:avLst/>
              <a:gdLst/>
              <a:ahLst/>
              <a:cxnLst/>
              <a:rect l="l" t="t" r="r" b="b"/>
              <a:pathLst>
                <a:path w="1988257" h="351062">
                  <a:moveTo>
                    <a:pt x="52302" y="0"/>
                  </a:moveTo>
                  <a:lnTo>
                    <a:pt x="1935955" y="0"/>
                  </a:lnTo>
                  <a:cubicBezTo>
                    <a:pt x="1964841" y="0"/>
                    <a:pt x="1988257" y="23416"/>
                    <a:pt x="1988257" y="52302"/>
                  </a:cubicBezTo>
                  <a:lnTo>
                    <a:pt x="1988257" y="298759"/>
                  </a:lnTo>
                  <a:cubicBezTo>
                    <a:pt x="1988257" y="312631"/>
                    <a:pt x="1982747" y="325934"/>
                    <a:pt x="1972938" y="335743"/>
                  </a:cubicBezTo>
                  <a:cubicBezTo>
                    <a:pt x="1963129" y="345551"/>
                    <a:pt x="1949826" y="351062"/>
                    <a:pt x="1935955" y="351062"/>
                  </a:cubicBezTo>
                  <a:lnTo>
                    <a:pt x="52302" y="351062"/>
                  </a:lnTo>
                  <a:cubicBezTo>
                    <a:pt x="38431" y="351062"/>
                    <a:pt x="25128" y="345551"/>
                    <a:pt x="15319" y="335743"/>
                  </a:cubicBezTo>
                  <a:cubicBezTo>
                    <a:pt x="5510" y="325934"/>
                    <a:pt x="0" y="312631"/>
                    <a:pt x="0" y="298759"/>
                  </a:cubicBezTo>
                  <a:lnTo>
                    <a:pt x="0" y="52302"/>
                  </a:lnTo>
                  <a:cubicBezTo>
                    <a:pt x="0" y="38431"/>
                    <a:pt x="5510" y="25128"/>
                    <a:pt x="15319" y="15319"/>
                  </a:cubicBezTo>
                  <a:cubicBezTo>
                    <a:pt x="25128" y="5510"/>
                    <a:pt x="38431" y="0"/>
                    <a:pt x="52302" y="0"/>
                  </a:cubicBezTo>
                  <a:close/>
                </a:path>
              </a:pathLst>
            </a:custGeom>
            <a:solidFill>
              <a:srgbClr val="6AAE7C"/>
            </a:solidFill>
          </p:spPr>
        </p:sp>
        <p:sp>
          <p:nvSpPr>
            <p:cNvPr id="4" name="TextBox 4"/>
            <p:cNvSpPr txBox="1"/>
            <p:nvPr/>
          </p:nvSpPr>
          <p:spPr>
            <a:xfrm>
              <a:off x="0" y="0"/>
              <a:ext cx="1988257" cy="351062"/>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1441241" y="2443215"/>
            <a:ext cx="15602519" cy="3886200"/>
          </a:xfrm>
          <a:prstGeom prst="rect">
            <a:avLst/>
          </a:prstGeom>
        </p:spPr>
        <p:txBody>
          <a:bodyPr lIns="0" tIns="0" rIns="0" bIns="0" rtlCol="0" anchor="t">
            <a:spAutoFit/>
          </a:bodyPr>
          <a:lstStyle/>
          <a:p>
            <a:pPr marL="0" lvl="0" indent="0" algn="l">
              <a:lnSpc>
                <a:spcPts val="3207"/>
              </a:lnSpc>
            </a:pPr>
            <a:r>
              <a:rPr lang="en-US" sz="2672" b="1">
                <a:solidFill>
                  <a:srgbClr val="F1F5EE">
                    <a:alpha val="97647"/>
                  </a:srgbClr>
                </a:solidFill>
                <a:latin typeface="DM Sans Bold"/>
                <a:ea typeface="DM Sans Bold"/>
                <a:cs typeface="DM Sans Bold"/>
                <a:sym typeface="DM Sans Bold"/>
              </a:rPr>
              <a:t>1. Sales &amp; Demand Patterns:</a:t>
            </a:r>
          </a:p>
          <a:p>
            <a:pPr marL="0" lvl="0" indent="0" algn="l">
              <a:lnSpc>
                <a:spcPts val="3207"/>
              </a:lnSpc>
            </a:pPr>
            <a:endParaRPr lang="en-US" sz="2672" b="1">
              <a:solidFill>
                <a:srgbClr val="F1F5EE">
                  <a:alpha val="97647"/>
                </a:srgbClr>
              </a:solidFill>
              <a:latin typeface="DM Sans Bold"/>
              <a:ea typeface="DM Sans Bold"/>
              <a:cs typeface="DM Sans Bold"/>
              <a:sym typeface="DM Sans Bold"/>
            </a:endParaRPr>
          </a:p>
          <a:p>
            <a:pPr marL="577093" lvl="1" indent="-288546" algn="l">
              <a:lnSpc>
                <a:spcPts val="3528"/>
              </a:lnSpc>
              <a:buFont typeface="Arial"/>
              <a:buChar char="•"/>
            </a:pPr>
            <a:r>
              <a:rPr lang="en-US" sz="2672">
                <a:solidFill>
                  <a:srgbClr val="F1F5EE">
                    <a:alpha val="97647"/>
                  </a:srgbClr>
                </a:solidFill>
                <a:latin typeface="DM Sans"/>
                <a:ea typeface="DM Sans"/>
                <a:cs typeface="DM Sans"/>
                <a:sym typeface="DM Sans"/>
              </a:rPr>
              <a:t>Monthly orders remain relatively stable, with ~</a:t>
            </a:r>
            <a:r>
              <a:rPr lang="en-US" sz="2672" b="1">
                <a:solidFill>
                  <a:srgbClr val="F1F5EE">
                    <a:alpha val="97647"/>
                  </a:srgbClr>
                </a:solidFill>
                <a:latin typeface="DM Sans Bold"/>
                <a:ea typeface="DM Sans Bold"/>
                <a:cs typeface="DM Sans Bold"/>
                <a:sym typeface="DM Sans Bold"/>
              </a:rPr>
              <a:t>1.8K orders in January and March</a:t>
            </a:r>
            <a:r>
              <a:rPr lang="en-US" sz="2672">
                <a:solidFill>
                  <a:srgbClr val="F1F5EE">
                    <a:alpha val="97647"/>
                  </a:srgbClr>
                </a:solidFill>
                <a:latin typeface="DM Sans"/>
                <a:ea typeface="DM Sans"/>
                <a:cs typeface="DM Sans"/>
                <a:sym typeface="DM Sans"/>
              </a:rPr>
              <a:t> and a slight decline in </a:t>
            </a:r>
            <a:r>
              <a:rPr lang="en-US" sz="2672" b="1">
                <a:solidFill>
                  <a:srgbClr val="F1F5EE">
                    <a:alpha val="97647"/>
                  </a:srgbClr>
                </a:solidFill>
                <a:latin typeface="DM Sans Bold"/>
                <a:ea typeface="DM Sans Bold"/>
                <a:cs typeface="DM Sans Bold"/>
                <a:sym typeface="DM Sans Bold"/>
              </a:rPr>
              <a:t>February (1.65K orders)</a:t>
            </a:r>
            <a:r>
              <a:rPr lang="en-US" sz="2672">
                <a:solidFill>
                  <a:srgbClr val="F1F5EE">
                    <a:alpha val="97647"/>
                  </a:srgbClr>
                </a:solidFill>
                <a:latin typeface="DM Sans"/>
                <a:ea typeface="DM Sans"/>
                <a:cs typeface="DM Sans"/>
                <a:sym typeface="DM Sans"/>
              </a:rPr>
              <a:t>.</a:t>
            </a:r>
          </a:p>
          <a:p>
            <a:pPr marL="577093" lvl="1" indent="-288546" algn="l">
              <a:lnSpc>
                <a:spcPts val="3528"/>
              </a:lnSpc>
              <a:buFont typeface="Arial"/>
              <a:buChar char="•"/>
            </a:pPr>
            <a:r>
              <a:rPr lang="en-US" sz="2672">
                <a:solidFill>
                  <a:srgbClr val="F1F5EE">
                    <a:alpha val="97647"/>
                  </a:srgbClr>
                </a:solidFill>
                <a:latin typeface="DM Sans"/>
                <a:ea typeface="DM Sans"/>
                <a:cs typeface="DM Sans"/>
                <a:sym typeface="DM Sans"/>
              </a:rPr>
              <a:t>Orders and items sold consistently </a:t>
            </a:r>
            <a:r>
              <a:rPr lang="en-US" sz="2672" b="1">
                <a:solidFill>
                  <a:srgbClr val="F1F5EE">
                    <a:alpha val="97647"/>
                  </a:srgbClr>
                </a:solidFill>
                <a:latin typeface="DM Sans Bold"/>
                <a:ea typeface="DM Sans Bold"/>
                <a:cs typeface="DM Sans Bold"/>
                <a:sym typeface="DM Sans Bold"/>
              </a:rPr>
              <a:t>peak at the beginning and middle of the month</a:t>
            </a:r>
            <a:r>
              <a:rPr lang="en-US" sz="2672">
                <a:solidFill>
                  <a:srgbClr val="F1F5EE">
                    <a:alpha val="97647"/>
                  </a:srgbClr>
                </a:solidFill>
                <a:latin typeface="DM Sans"/>
                <a:ea typeface="DM Sans"/>
                <a:cs typeface="DM Sans"/>
                <a:sym typeface="DM Sans"/>
              </a:rPr>
              <a:t>, especially around </a:t>
            </a:r>
            <a:r>
              <a:rPr lang="en-US" sz="2672" b="1">
                <a:solidFill>
                  <a:srgbClr val="F1F5EE">
                    <a:alpha val="97647"/>
                  </a:srgbClr>
                </a:solidFill>
                <a:latin typeface="DM Sans Bold"/>
                <a:ea typeface="DM Sans Bold"/>
                <a:cs typeface="DM Sans Bold"/>
                <a:sym typeface="DM Sans Bold"/>
              </a:rPr>
              <a:t>days 1, 13, 20, and 27</a:t>
            </a:r>
            <a:r>
              <a:rPr lang="en-US" sz="2672">
                <a:solidFill>
                  <a:srgbClr val="F1F5EE">
                    <a:alpha val="97647"/>
                  </a:srgbClr>
                </a:solidFill>
                <a:latin typeface="DM Sans"/>
                <a:ea typeface="DM Sans"/>
                <a:cs typeface="DM Sans"/>
                <a:sym typeface="DM Sans"/>
              </a:rPr>
              <a:t>.</a:t>
            </a:r>
          </a:p>
          <a:p>
            <a:pPr marL="577093" lvl="1" indent="-288546" algn="l">
              <a:lnSpc>
                <a:spcPts val="3528"/>
              </a:lnSpc>
              <a:buFont typeface="Arial"/>
              <a:buChar char="•"/>
            </a:pPr>
            <a:r>
              <a:rPr lang="en-US" sz="2672">
                <a:solidFill>
                  <a:srgbClr val="F1F5EE">
                    <a:alpha val="97647"/>
                  </a:srgbClr>
                </a:solidFill>
                <a:latin typeface="DM Sans"/>
                <a:ea typeface="DM Sans"/>
                <a:cs typeface="DM Sans"/>
                <a:sym typeface="DM Sans"/>
              </a:rPr>
              <a:t>A clear </a:t>
            </a:r>
            <a:r>
              <a:rPr lang="en-US" sz="2672" b="1">
                <a:solidFill>
                  <a:srgbClr val="F1F5EE">
                    <a:alpha val="97647"/>
                  </a:srgbClr>
                </a:solidFill>
                <a:latin typeface="DM Sans Bold"/>
                <a:ea typeface="DM Sans Bold"/>
                <a:cs typeface="DM Sans Bold"/>
                <a:sym typeface="DM Sans Bold"/>
              </a:rPr>
              <a:t>drop in sales occurs toward the end of each month</a:t>
            </a:r>
            <a:r>
              <a:rPr lang="en-US" sz="2672">
                <a:solidFill>
                  <a:srgbClr val="F1F5EE">
                    <a:alpha val="97647"/>
                  </a:srgbClr>
                </a:solidFill>
                <a:latin typeface="DM Sans"/>
                <a:ea typeface="DM Sans"/>
                <a:cs typeface="DM Sans"/>
                <a:sym typeface="DM Sans"/>
              </a:rPr>
              <a:t>, indicating predictable low-demand periods.</a:t>
            </a:r>
          </a:p>
          <a:p>
            <a:pPr marL="0" lvl="0" indent="0" algn="l">
              <a:lnSpc>
                <a:spcPts val="3207"/>
              </a:lnSpc>
            </a:pPr>
            <a:endParaRPr lang="en-US" sz="2672">
              <a:solidFill>
                <a:srgbClr val="F1F5EE">
                  <a:alpha val="97647"/>
                </a:srgbClr>
              </a:solidFill>
              <a:latin typeface="DM Sans"/>
              <a:ea typeface="DM Sans"/>
              <a:cs typeface="DM Sans"/>
              <a:sym typeface="DM Sans"/>
            </a:endParaRPr>
          </a:p>
        </p:txBody>
      </p:sp>
      <p:grpSp>
        <p:nvGrpSpPr>
          <p:cNvPr id="6" name="Group 6"/>
          <p:cNvGrpSpPr/>
          <p:nvPr/>
        </p:nvGrpSpPr>
        <p:grpSpPr>
          <a:xfrm rot="-5400000">
            <a:off x="8018643" y="1397632"/>
            <a:ext cx="1889449" cy="12526748"/>
            <a:chOff x="0" y="0"/>
            <a:chExt cx="381000" cy="2525970"/>
          </a:xfrm>
        </p:grpSpPr>
        <p:sp>
          <p:nvSpPr>
            <p:cNvPr id="7" name="Freeform 7"/>
            <p:cNvSpPr/>
            <p:nvPr/>
          </p:nvSpPr>
          <p:spPr>
            <a:xfrm>
              <a:off x="0" y="0"/>
              <a:ext cx="381000" cy="2525970"/>
            </a:xfrm>
            <a:custGeom>
              <a:avLst/>
              <a:gdLst/>
              <a:ahLst/>
              <a:cxnLst/>
              <a:rect l="l" t="t" r="r" b="b"/>
              <a:pathLst>
                <a:path w="381000" h="2525970">
                  <a:moveTo>
                    <a:pt x="381000" y="73704"/>
                  </a:moveTo>
                  <a:lnTo>
                    <a:pt x="381000" y="2357060"/>
                  </a:lnTo>
                  <a:lnTo>
                    <a:pt x="190500" y="2525970"/>
                  </a:lnTo>
                  <a:lnTo>
                    <a:pt x="0" y="2357060"/>
                  </a:lnTo>
                  <a:lnTo>
                    <a:pt x="0" y="73704"/>
                  </a:lnTo>
                  <a:cubicBezTo>
                    <a:pt x="0" y="22860"/>
                    <a:pt x="22860" y="0"/>
                    <a:pt x="49530" y="0"/>
                  </a:cubicBezTo>
                  <a:lnTo>
                    <a:pt x="331470" y="0"/>
                  </a:lnTo>
                  <a:cubicBezTo>
                    <a:pt x="358140" y="0"/>
                    <a:pt x="381000" y="22860"/>
                    <a:pt x="381000" y="73704"/>
                  </a:cubicBezTo>
                  <a:close/>
                </a:path>
              </a:pathLst>
            </a:custGeom>
            <a:solidFill>
              <a:srgbClr val="F1E2AB"/>
            </a:solidFill>
          </p:spPr>
        </p:sp>
        <p:sp>
          <p:nvSpPr>
            <p:cNvPr id="8" name="TextBox 8"/>
            <p:cNvSpPr txBox="1"/>
            <p:nvPr/>
          </p:nvSpPr>
          <p:spPr>
            <a:xfrm>
              <a:off x="0" y="0"/>
              <a:ext cx="381000" cy="2349440"/>
            </a:xfrm>
            <a:prstGeom prst="rect">
              <a:avLst/>
            </a:prstGeom>
          </p:spPr>
          <p:txBody>
            <a:bodyPr lIns="50800" tIns="50800" rIns="50800" bIns="50800" rtlCol="0" anchor="ctr"/>
            <a:lstStyle/>
            <a:p>
              <a:pPr algn="ctr">
                <a:lnSpc>
                  <a:spcPts val="2879"/>
                </a:lnSpc>
              </a:pPr>
              <a:endParaRPr/>
            </a:p>
          </p:txBody>
        </p:sp>
      </p:grpSp>
      <p:sp>
        <p:nvSpPr>
          <p:cNvPr id="9" name="TextBox 9"/>
          <p:cNvSpPr txBox="1"/>
          <p:nvPr/>
        </p:nvSpPr>
        <p:spPr>
          <a:xfrm>
            <a:off x="356151" y="504825"/>
            <a:ext cx="4687686" cy="1209675"/>
          </a:xfrm>
          <a:prstGeom prst="rect">
            <a:avLst/>
          </a:prstGeom>
        </p:spPr>
        <p:txBody>
          <a:bodyPr lIns="0" tIns="0" rIns="0" bIns="0" rtlCol="0" anchor="t">
            <a:spAutoFit/>
          </a:bodyPr>
          <a:lstStyle/>
          <a:p>
            <a:pPr marL="0" lvl="0" indent="0" algn="l">
              <a:lnSpc>
                <a:spcPts val="9000"/>
              </a:lnSpc>
            </a:pPr>
            <a:r>
              <a:rPr lang="en-US" sz="9000" spc="-270">
                <a:solidFill>
                  <a:srgbClr val="F1F5EE"/>
                </a:solidFill>
                <a:latin typeface="DM Sans"/>
                <a:ea typeface="DM Sans"/>
                <a:cs typeface="DM Sans"/>
                <a:sym typeface="DM Sans"/>
              </a:rPr>
              <a:t>Insights</a:t>
            </a:r>
          </a:p>
        </p:txBody>
      </p:sp>
      <p:sp>
        <p:nvSpPr>
          <p:cNvPr id="10" name="TextBox 10"/>
          <p:cNvSpPr txBox="1"/>
          <p:nvPr/>
        </p:nvSpPr>
        <p:spPr>
          <a:xfrm>
            <a:off x="3010922" y="7270481"/>
            <a:ext cx="11181024" cy="781050"/>
          </a:xfrm>
          <a:prstGeom prst="rect">
            <a:avLst/>
          </a:prstGeom>
        </p:spPr>
        <p:txBody>
          <a:bodyPr lIns="0" tIns="0" rIns="0" bIns="0" rtlCol="0" anchor="t">
            <a:spAutoFit/>
          </a:bodyPr>
          <a:lstStyle/>
          <a:p>
            <a:pPr algn="ctr">
              <a:lnSpc>
                <a:spcPts val="3119"/>
              </a:lnSpc>
              <a:spcBef>
                <a:spcPct val="0"/>
              </a:spcBef>
            </a:pPr>
            <a:r>
              <a:rPr lang="en-US" sz="2599" b="1">
                <a:solidFill>
                  <a:srgbClr val="545454"/>
                </a:solidFill>
                <a:latin typeface="DM Sans Bold"/>
                <a:ea typeface="DM Sans Bold"/>
                <a:cs typeface="DM Sans Bold"/>
                <a:sym typeface="DM Sans Bold"/>
              </a:rPr>
              <a:t>This shows that customer demand follows </a:t>
            </a:r>
            <a:r>
              <a:rPr lang="en-US" sz="2599" b="1">
                <a:solidFill>
                  <a:srgbClr val="6AAE7C"/>
                </a:solidFill>
                <a:latin typeface="DM Sans Bold"/>
                <a:ea typeface="DM Sans Bold"/>
                <a:cs typeface="DM Sans Bold"/>
                <a:sym typeface="DM Sans Bold"/>
              </a:rPr>
              <a:t>cyclical, time based behavior</a:t>
            </a:r>
            <a:r>
              <a:rPr lang="en-US" sz="2599" b="1">
                <a:solidFill>
                  <a:srgbClr val="545454"/>
                </a:solidFill>
                <a:latin typeface="DM Sans Bold"/>
                <a:ea typeface="DM Sans Bold"/>
                <a:cs typeface="DM Sans Bold"/>
                <a:sym typeface="DM Sans Bold"/>
              </a:rPr>
              <a:t>, likely influenced by salary periods or routine dining habits.</a:t>
            </a:r>
          </a:p>
        </p:txBody>
      </p:sp>
      <p:sp>
        <p:nvSpPr>
          <p:cNvPr id="11" name="TextBox 11"/>
          <p:cNvSpPr txBox="1"/>
          <p:nvPr/>
        </p:nvSpPr>
        <p:spPr>
          <a:xfrm>
            <a:off x="17294172" y="9579915"/>
            <a:ext cx="275272"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1074587" y="381563"/>
            <a:ext cx="7549163" cy="1332937"/>
            <a:chOff x="0" y="0"/>
            <a:chExt cx="1988257" cy="351062"/>
          </a:xfrm>
        </p:grpSpPr>
        <p:sp>
          <p:nvSpPr>
            <p:cNvPr id="3" name="Freeform 3"/>
            <p:cNvSpPr/>
            <p:nvPr/>
          </p:nvSpPr>
          <p:spPr>
            <a:xfrm>
              <a:off x="0" y="0"/>
              <a:ext cx="1988257" cy="351062"/>
            </a:xfrm>
            <a:custGeom>
              <a:avLst/>
              <a:gdLst/>
              <a:ahLst/>
              <a:cxnLst/>
              <a:rect l="l" t="t" r="r" b="b"/>
              <a:pathLst>
                <a:path w="1988257" h="351062">
                  <a:moveTo>
                    <a:pt x="52302" y="0"/>
                  </a:moveTo>
                  <a:lnTo>
                    <a:pt x="1935955" y="0"/>
                  </a:lnTo>
                  <a:cubicBezTo>
                    <a:pt x="1964841" y="0"/>
                    <a:pt x="1988257" y="23416"/>
                    <a:pt x="1988257" y="52302"/>
                  </a:cubicBezTo>
                  <a:lnTo>
                    <a:pt x="1988257" y="298759"/>
                  </a:lnTo>
                  <a:cubicBezTo>
                    <a:pt x="1988257" y="312631"/>
                    <a:pt x="1982747" y="325934"/>
                    <a:pt x="1972938" y="335743"/>
                  </a:cubicBezTo>
                  <a:cubicBezTo>
                    <a:pt x="1963129" y="345551"/>
                    <a:pt x="1949826" y="351062"/>
                    <a:pt x="1935955" y="351062"/>
                  </a:cubicBezTo>
                  <a:lnTo>
                    <a:pt x="52302" y="351062"/>
                  </a:lnTo>
                  <a:cubicBezTo>
                    <a:pt x="38431" y="351062"/>
                    <a:pt x="25128" y="345551"/>
                    <a:pt x="15319" y="335743"/>
                  </a:cubicBezTo>
                  <a:cubicBezTo>
                    <a:pt x="5510" y="325934"/>
                    <a:pt x="0" y="312631"/>
                    <a:pt x="0" y="298759"/>
                  </a:cubicBezTo>
                  <a:lnTo>
                    <a:pt x="0" y="52302"/>
                  </a:lnTo>
                  <a:cubicBezTo>
                    <a:pt x="0" y="38431"/>
                    <a:pt x="5510" y="25128"/>
                    <a:pt x="15319" y="15319"/>
                  </a:cubicBezTo>
                  <a:cubicBezTo>
                    <a:pt x="25128" y="5510"/>
                    <a:pt x="38431" y="0"/>
                    <a:pt x="52302" y="0"/>
                  </a:cubicBezTo>
                  <a:close/>
                </a:path>
              </a:pathLst>
            </a:custGeom>
            <a:solidFill>
              <a:srgbClr val="6AAE7C"/>
            </a:solidFill>
          </p:spPr>
        </p:sp>
        <p:sp>
          <p:nvSpPr>
            <p:cNvPr id="4" name="TextBox 4"/>
            <p:cNvSpPr txBox="1"/>
            <p:nvPr/>
          </p:nvSpPr>
          <p:spPr>
            <a:xfrm>
              <a:off x="0" y="0"/>
              <a:ext cx="1988257" cy="351062"/>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1441241" y="2395590"/>
            <a:ext cx="15602519" cy="4259192"/>
          </a:xfrm>
          <a:prstGeom prst="rect">
            <a:avLst/>
          </a:prstGeom>
        </p:spPr>
        <p:txBody>
          <a:bodyPr lIns="0" tIns="0" rIns="0" bIns="0" rtlCol="0" anchor="t">
            <a:spAutoFit/>
          </a:bodyPr>
          <a:lstStyle/>
          <a:p>
            <a:pPr marL="0" lvl="0" indent="0" algn="l">
              <a:lnSpc>
                <a:spcPts val="3795"/>
              </a:lnSpc>
            </a:pPr>
            <a:r>
              <a:rPr lang="en-US" sz="2672" b="1">
                <a:solidFill>
                  <a:srgbClr val="F1F5EE">
                    <a:alpha val="97647"/>
                  </a:srgbClr>
                </a:solidFill>
                <a:latin typeface="DM Sans Bold"/>
                <a:ea typeface="DM Sans Bold"/>
                <a:cs typeface="DM Sans Bold"/>
                <a:sym typeface="DM Sans Bold"/>
              </a:rPr>
              <a:t>2. Category Performance:</a:t>
            </a:r>
          </a:p>
          <a:p>
            <a:pPr marL="0" lvl="0" indent="0" algn="l">
              <a:lnSpc>
                <a:spcPts val="3795"/>
              </a:lnSpc>
            </a:pPr>
            <a:endParaRPr lang="en-US" sz="2672" b="1">
              <a:solidFill>
                <a:srgbClr val="F1F5EE">
                  <a:alpha val="97647"/>
                </a:srgbClr>
              </a:solidFill>
              <a:latin typeface="DM Sans Bold"/>
              <a:ea typeface="DM Sans Bold"/>
              <a:cs typeface="DM Sans Bold"/>
              <a:sym typeface="DM Sans Bold"/>
            </a:endParaRPr>
          </a:p>
          <a:p>
            <a:pPr marL="577093" lvl="1" indent="-288546" algn="l">
              <a:lnSpc>
                <a:spcPts val="3795"/>
              </a:lnSpc>
              <a:buFont typeface="Arial"/>
              <a:buChar char="•"/>
            </a:pPr>
            <a:r>
              <a:rPr lang="en-US" sz="2672" b="1">
                <a:solidFill>
                  <a:srgbClr val="F1F5EE">
                    <a:alpha val="97647"/>
                  </a:srgbClr>
                </a:solidFill>
                <a:latin typeface="DM Sans Bold"/>
                <a:ea typeface="DM Sans Bold"/>
                <a:cs typeface="DM Sans Bold"/>
                <a:sym typeface="DM Sans Bold"/>
              </a:rPr>
              <a:t>Asian cuisine is the top performing category by volume</a:t>
            </a:r>
            <a:r>
              <a:rPr lang="en-US" sz="2672">
                <a:solidFill>
                  <a:srgbClr val="F1F5EE">
                    <a:alpha val="97647"/>
                  </a:srgbClr>
                </a:solidFill>
                <a:latin typeface="DM Sans"/>
                <a:ea typeface="DM Sans"/>
                <a:cs typeface="DM Sans"/>
                <a:sym typeface="DM Sans"/>
              </a:rPr>
              <a:t>, with </a:t>
            </a:r>
            <a:r>
              <a:rPr lang="en-US" sz="2672" b="1">
                <a:solidFill>
                  <a:srgbClr val="F1F5EE">
                    <a:alpha val="97647"/>
                  </a:srgbClr>
                </a:solidFill>
                <a:latin typeface="DM Sans Bold"/>
                <a:ea typeface="DM Sans Bold"/>
                <a:cs typeface="DM Sans Bold"/>
                <a:sym typeface="DM Sans Bold"/>
              </a:rPr>
              <a:t>approximately 3.5K items sold</a:t>
            </a:r>
            <a:r>
              <a:rPr lang="en-US" sz="2672">
                <a:solidFill>
                  <a:srgbClr val="F1F5EE">
                    <a:alpha val="97647"/>
                  </a:srgbClr>
                </a:solidFill>
                <a:latin typeface="DM Sans"/>
                <a:ea typeface="DM Sans"/>
                <a:cs typeface="DM Sans"/>
                <a:sym typeface="DM Sans"/>
              </a:rPr>
              <a:t>, despite not having the highest average price.</a:t>
            </a:r>
          </a:p>
          <a:p>
            <a:pPr marL="577093" lvl="1" indent="-288546" algn="l">
              <a:lnSpc>
                <a:spcPts val="3795"/>
              </a:lnSpc>
              <a:buFont typeface="Arial"/>
              <a:buChar char="•"/>
            </a:pPr>
            <a:r>
              <a:rPr lang="en-US" sz="2672" b="1">
                <a:solidFill>
                  <a:srgbClr val="F1F5EE">
                    <a:alpha val="97647"/>
                  </a:srgbClr>
                </a:solidFill>
                <a:latin typeface="DM Sans Bold"/>
                <a:ea typeface="DM Sans Bold"/>
                <a:cs typeface="DM Sans Bold"/>
                <a:sym typeface="DM Sans Bold"/>
              </a:rPr>
              <a:t>Italian cuisine has the highest average price (16.75)</a:t>
            </a:r>
            <a:r>
              <a:rPr lang="en-US" sz="2672">
                <a:solidFill>
                  <a:srgbClr val="F1F5EE">
                    <a:alpha val="97647"/>
                  </a:srgbClr>
                </a:solidFill>
                <a:latin typeface="DM Sans"/>
                <a:ea typeface="DM Sans"/>
                <a:cs typeface="DM Sans"/>
                <a:sym typeface="DM Sans"/>
              </a:rPr>
              <a:t> but slightly lower volume </a:t>
            </a:r>
            <a:r>
              <a:rPr lang="en-US" sz="2672" b="1">
                <a:solidFill>
                  <a:srgbClr val="F1F5EE">
                    <a:alpha val="97647"/>
                  </a:srgbClr>
                </a:solidFill>
                <a:latin typeface="DM Sans Bold"/>
                <a:ea typeface="DM Sans Bold"/>
                <a:cs typeface="DM Sans Bold"/>
                <a:sym typeface="DM Sans Bold"/>
              </a:rPr>
              <a:t>(~2.9K items sold)</a:t>
            </a:r>
            <a:r>
              <a:rPr lang="en-US" sz="2672">
                <a:solidFill>
                  <a:srgbClr val="F1F5EE">
                    <a:alpha val="97647"/>
                  </a:srgbClr>
                </a:solidFill>
                <a:latin typeface="DM Sans"/>
                <a:ea typeface="DM Sans"/>
                <a:cs typeface="DM Sans"/>
                <a:sym typeface="DM Sans"/>
              </a:rPr>
              <a:t>, positioning it as a premium category.</a:t>
            </a:r>
          </a:p>
          <a:p>
            <a:pPr marL="577093" lvl="1" indent="-288546" algn="l">
              <a:lnSpc>
                <a:spcPts val="3795"/>
              </a:lnSpc>
              <a:buFont typeface="Arial"/>
              <a:buChar char="•"/>
            </a:pPr>
            <a:r>
              <a:rPr lang="en-US" sz="2672" b="1">
                <a:solidFill>
                  <a:srgbClr val="F1F5EE">
                    <a:alpha val="97647"/>
                  </a:srgbClr>
                </a:solidFill>
                <a:latin typeface="DM Sans Bold"/>
                <a:ea typeface="DM Sans Bold"/>
                <a:cs typeface="DM Sans Bold"/>
                <a:sym typeface="DM Sans Bold"/>
              </a:rPr>
              <a:t>Mexican and American categories</a:t>
            </a:r>
            <a:r>
              <a:rPr lang="en-US" sz="2672">
                <a:solidFill>
                  <a:srgbClr val="F1F5EE">
                    <a:alpha val="97647"/>
                  </a:srgbClr>
                </a:solidFill>
                <a:latin typeface="DM Sans"/>
                <a:ea typeface="DM Sans"/>
                <a:cs typeface="DM Sans"/>
                <a:sym typeface="DM Sans"/>
              </a:rPr>
              <a:t> show moderate performance, with </a:t>
            </a:r>
            <a:r>
              <a:rPr lang="en-US" sz="2672" b="1">
                <a:solidFill>
                  <a:srgbClr val="F1F5EE">
                    <a:alpha val="97647"/>
                  </a:srgbClr>
                </a:solidFill>
                <a:latin typeface="DM Sans Bold"/>
                <a:ea typeface="DM Sans Bold"/>
                <a:cs typeface="DM Sans Bold"/>
                <a:sym typeface="DM Sans Bold"/>
              </a:rPr>
              <a:t>2.9K and 2.7K items sold</a:t>
            </a:r>
            <a:r>
              <a:rPr lang="en-US" sz="2672">
                <a:solidFill>
                  <a:srgbClr val="F1F5EE">
                    <a:alpha val="97647"/>
                  </a:srgbClr>
                </a:solidFill>
                <a:latin typeface="DM Sans"/>
                <a:ea typeface="DM Sans"/>
                <a:cs typeface="DM Sans"/>
                <a:sym typeface="DM Sans"/>
              </a:rPr>
              <a:t> respectively, and lower average prices.</a:t>
            </a:r>
          </a:p>
          <a:p>
            <a:pPr marL="0" lvl="0" indent="0" algn="l">
              <a:lnSpc>
                <a:spcPts val="3795"/>
              </a:lnSpc>
            </a:pPr>
            <a:endParaRPr lang="en-US" sz="2672">
              <a:solidFill>
                <a:srgbClr val="F1F5EE">
                  <a:alpha val="97647"/>
                </a:srgbClr>
              </a:solidFill>
              <a:latin typeface="DM Sans"/>
              <a:ea typeface="DM Sans"/>
              <a:cs typeface="DM Sans"/>
              <a:sym typeface="DM Sans"/>
            </a:endParaRPr>
          </a:p>
        </p:txBody>
      </p:sp>
      <p:grpSp>
        <p:nvGrpSpPr>
          <p:cNvPr id="6" name="Group 6"/>
          <p:cNvGrpSpPr/>
          <p:nvPr/>
        </p:nvGrpSpPr>
        <p:grpSpPr>
          <a:xfrm rot="-5400000">
            <a:off x="8018643" y="1397632"/>
            <a:ext cx="1889449" cy="12526748"/>
            <a:chOff x="0" y="0"/>
            <a:chExt cx="381000" cy="2525970"/>
          </a:xfrm>
        </p:grpSpPr>
        <p:sp>
          <p:nvSpPr>
            <p:cNvPr id="7" name="Freeform 7"/>
            <p:cNvSpPr/>
            <p:nvPr/>
          </p:nvSpPr>
          <p:spPr>
            <a:xfrm>
              <a:off x="0" y="0"/>
              <a:ext cx="381000" cy="2525970"/>
            </a:xfrm>
            <a:custGeom>
              <a:avLst/>
              <a:gdLst/>
              <a:ahLst/>
              <a:cxnLst/>
              <a:rect l="l" t="t" r="r" b="b"/>
              <a:pathLst>
                <a:path w="381000" h="2525970">
                  <a:moveTo>
                    <a:pt x="381000" y="73704"/>
                  </a:moveTo>
                  <a:lnTo>
                    <a:pt x="381000" y="2357060"/>
                  </a:lnTo>
                  <a:lnTo>
                    <a:pt x="190500" y="2525970"/>
                  </a:lnTo>
                  <a:lnTo>
                    <a:pt x="0" y="2357060"/>
                  </a:lnTo>
                  <a:lnTo>
                    <a:pt x="0" y="73704"/>
                  </a:lnTo>
                  <a:cubicBezTo>
                    <a:pt x="0" y="22860"/>
                    <a:pt x="22860" y="0"/>
                    <a:pt x="49530" y="0"/>
                  </a:cubicBezTo>
                  <a:lnTo>
                    <a:pt x="331470" y="0"/>
                  </a:lnTo>
                  <a:cubicBezTo>
                    <a:pt x="358140" y="0"/>
                    <a:pt x="381000" y="22860"/>
                    <a:pt x="381000" y="73704"/>
                  </a:cubicBezTo>
                  <a:close/>
                </a:path>
              </a:pathLst>
            </a:custGeom>
            <a:solidFill>
              <a:srgbClr val="F1E2AB"/>
            </a:solidFill>
          </p:spPr>
        </p:sp>
        <p:sp>
          <p:nvSpPr>
            <p:cNvPr id="8" name="TextBox 8"/>
            <p:cNvSpPr txBox="1"/>
            <p:nvPr/>
          </p:nvSpPr>
          <p:spPr>
            <a:xfrm>
              <a:off x="0" y="0"/>
              <a:ext cx="381000" cy="2349440"/>
            </a:xfrm>
            <a:prstGeom prst="rect">
              <a:avLst/>
            </a:prstGeom>
          </p:spPr>
          <p:txBody>
            <a:bodyPr lIns="50800" tIns="50800" rIns="50800" bIns="50800" rtlCol="0" anchor="ctr"/>
            <a:lstStyle/>
            <a:p>
              <a:pPr algn="ctr">
                <a:lnSpc>
                  <a:spcPts val="2879"/>
                </a:lnSpc>
              </a:pPr>
              <a:endParaRPr/>
            </a:p>
          </p:txBody>
        </p:sp>
      </p:grpSp>
      <p:sp>
        <p:nvSpPr>
          <p:cNvPr id="9" name="TextBox 9"/>
          <p:cNvSpPr txBox="1"/>
          <p:nvPr/>
        </p:nvSpPr>
        <p:spPr>
          <a:xfrm>
            <a:off x="356151" y="504825"/>
            <a:ext cx="4687686" cy="1209675"/>
          </a:xfrm>
          <a:prstGeom prst="rect">
            <a:avLst/>
          </a:prstGeom>
        </p:spPr>
        <p:txBody>
          <a:bodyPr lIns="0" tIns="0" rIns="0" bIns="0" rtlCol="0" anchor="t">
            <a:spAutoFit/>
          </a:bodyPr>
          <a:lstStyle/>
          <a:p>
            <a:pPr marL="0" lvl="0" indent="0" algn="l">
              <a:lnSpc>
                <a:spcPts val="9000"/>
              </a:lnSpc>
            </a:pPr>
            <a:r>
              <a:rPr lang="en-US" sz="9000" spc="-270">
                <a:solidFill>
                  <a:srgbClr val="F1F5EE"/>
                </a:solidFill>
                <a:latin typeface="DM Sans"/>
                <a:ea typeface="DM Sans"/>
                <a:cs typeface="DM Sans"/>
                <a:sym typeface="DM Sans"/>
              </a:rPr>
              <a:t>Insights</a:t>
            </a:r>
          </a:p>
        </p:txBody>
      </p:sp>
      <p:sp>
        <p:nvSpPr>
          <p:cNvPr id="10" name="TextBox 10"/>
          <p:cNvSpPr txBox="1"/>
          <p:nvPr/>
        </p:nvSpPr>
        <p:spPr>
          <a:xfrm>
            <a:off x="3010922" y="7270481"/>
            <a:ext cx="11181024" cy="795089"/>
          </a:xfrm>
          <a:prstGeom prst="rect">
            <a:avLst/>
          </a:prstGeom>
        </p:spPr>
        <p:txBody>
          <a:bodyPr lIns="0" tIns="0" rIns="0" bIns="0" rtlCol="0" anchor="t">
            <a:spAutoFit/>
          </a:bodyPr>
          <a:lstStyle/>
          <a:p>
            <a:pPr algn="ctr">
              <a:lnSpc>
                <a:spcPts val="3119"/>
              </a:lnSpc>
              <a:spcBef>
                <a:spcPct val="0"/>
              </a:spcBef>
            </a:pPr>
            <a:r>
              <a:rPr lang="en-US" sz="2599" b="1" dirty="0">
                <a:solidFill>
                  <a:srgbClr val="545454"/>
                </a:solidFill>
                <a:latin typeface="DM Sans Bold"/>
                <a:ea typeface="DM Sans Bold"/>
                <a:cs typeface="DM Sans Bold"/>
                <a:sym typeface="DM Sans Bold"/>
              </a:rPr>
              <a:t>This indicates that </a:t>
            </a:r>
            <a:r>
              <a:rPr lang="en-US" sz="2599" b="1" dirty="0">
                <a:solidFill>
                  <a:srgbClr val="6AAE7C"/>
                </a:solidFill>
                <a:latin typeface="DM Sans Bold"/>
                <a:ea typeface="DM Sans Bold"/>
                <a:cs typeface="DM Sans Bold"/>
                <a:sym typeface="DM Sans Bold"/>
              </a:rPr>
              <a:t>volume driven categories (Asian)</a:t>
            </a:r>
            <a:r>
              <a:rPr lang="en-US" sz="2599" b="1" dirty="0">
                <a:solidFill>
                  <a:srgbClr val="545454"/>
                </a:solidFill>
                <a:latin typeface="DM Sans Bold"/>
                <a:ea typeface="DM Sans Bold"/>
                <a:cs typeface="DM Sans Bold"/>
                <a:sym typeface="DM Sans Bold"/>
              </a:rPr>
              <a:t> and </a:t>
            </a:r>
            <a:r>
              <a:rPr lang="en-US" sz="2599" b="1" dirty="0">
                <a:solidFill>
                  <a:srgbClr val="6AAE7C"/>
                </a:solidFill>
                <a:latin typeface="DM Sans Bold"/>
                <a:ea typeface="DM Sans Bold"/>
                <a:cs typeface="DM Sans Bold"/>
                <a:sym typeface="DM Sans Bold"/>
              </a:rPr>
              <a:t>price driven categories (Italian)</a:t>
            </a:r>
            <a:r>
              <a:rPr lang="en-US" sz="2599" b="1" dirty="0">
                <a:solidFill>
                  <a:srgbClr val="545454"/>
                </a:solidFill>
                <a:latin typeface="DM Sans Bold"/>
                <a:ea typeface="DM Sans Bold"/>
                <a:cs typeface="DM Sans Bold"/>
                <a:sym typeface="DM Sans Bold"/>
              </a:rPr>
              <a:t> contribute to revenue in different ways.</a:t>
            </a:r>
          </a:p>
        </p:txBody>
      </p:sp>
      <p:sp>
        <p:nvSpPr>
          <p:cNvPr id="11" name="TextBox 11"/>
          <p:cNvSpPr txBox="1"/>
          <p:nvPr/>
        </p:nvSpPr>
        <p:spPr>
          <a:xfrm>
            <a:off x="17293100" y="9579915"/>
            <a:ext cx="277416"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1074587" y="381563"/>
            <a:ext cx="7549163" cy="1332937"/>
            <a:chOff x="0" y="0"/>
            <a:chExt cx="1988257" cy="351062"/>
          </a:xfrm>
        </p:grpSpPr>
        <p:sp>
          <p:nvSpPr>
            <p:cNvPr id="3" name="Freeform 3"/>
            <p:cNvSpPr/>
            <p:nvPr/>
          </p:nvSpPr>
          <p:spPr>
            <a:xfrm>
              <a:off x="0" y="0"/>
              <a:ext cx="1988257" cy="351062"/>
            </a:xfrm>
            <a:custGeom>
              <a:avLst/>
              <a:gdLst/>
              <a:ahLst/>
              <a:cxnLst/>
              <a:rect l="l" t="t" r="r" b="b"/>
              <a:pathLst>
                <a:path w="1988257" h="351062">
                  <a:moveTo>
                    <a:pt x="52302" y="0"/>
                  </a:moveTo>
                  <a:lnTo>
                    <a:pt x="1935955" y="0"/>
                  </a:lnTo>
                  <a:cubicBezTo>
                    <a:pt x="1964841" y="0"/>
                    <a:pt x="1988257" y="23416"/>
                    <a:pt x="1988257" y="52302"/>
                  </a:cubicBezTo>
                  <a:lnTo>
                    <a:pt x="1988257" y="298759"/>
                  </a:lnTo>
                  <a:cubicBezTo>
                    <a:pt x="1988257" y="312631"/>
                    <a:pt x="1982747" y="325934"/>
                    <a:pt x="1972938" y="335743"/>
                  </a:cubicBezTo>
                  <a:cubicBezTo>
                    <a:pt x="1963129" y="345551"/>
                    <a:pt x="1949826" y="351062"/>
                    <a:pt x="1935955" y="351062"/>
                  </a:cubicBezTo>
                  <a:lnTo>
                    <a:pt x="52302" y="351062"/>
                  </a:lnTo>
                  <a:cubicBezTo>
                    <a:pt x="38431" y="351062"/>
                    <a:pt x="25128" y="345551"/>
                    <a:pt x="15319" y="335743"/>
                  </a:cubicBezTo>
                  <a:cubicBezTo>
                    <a:pt x="5510" y="325934"/>
                    <a:pt x="0" y="312631"/>
                    <a:pt x="0" y="298759"/>
                  </a:cubicBezTo>
                  <a:lnTo>
                    <a:pt x="0" y="52302"/>
                  </a:lnTo>
                  <a:cubicBezTo>
                    <a:pt x="0" y="38431"/>
                    <a:pt x="5510" y="25128"/>
                    <a:pt x="15319" y="15319"/>
                  </a:cubicBezTo>
                  <a:cubicBezTo>
                    <a:pt x="25128" y="5510"/>
                    <a:pt x="38431" y="0"/>
                    <a:pt x="52302" y="0"/>
                  </a:cubicBezTo>
                  <a:close/>
                </a:path>
              </a:pathLst>
            </a:custGeom>
            <a:solidFill>
              <a:srgbClr val="6AAE7C"/>
            </a:solidFill>
          </p:spPr>
        </p:sp>
        <p:sp>
          <p:nvSpPr>
            <p:cNvPr id="4" name="TextBox 4"/>
            <p:cNvSpPr txBox="1"/>
            <p:nvPr/>
          </p:nvSpPr>
          <p:spPr>
            <a:xfrm>
              <a:off x="0" y="0"/>
              <a:ext cx="1988257" cy="351062"/>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1342740" y="2573319"/>
            <a:ext cx="15602519" cy="4735442"/>
          </a:xfrm>
          <a:prstGeom prst="rect">
            <a:avLst/>
          </a:prstGeom>
        </p:spPr>
        <p:txBody>
          <a:bodyPr lIns="0" tIns="0" rIns="0" bIns="0" rtlCol="0" anchor="t">
            <a:spAutoFit/>
          </a:bodyPr>
          <a:lstStyle/>
          <a:p>
            <a:pPr marL="0" lvl="0" indent="0" algn="l">
              <a:lnSpc>
                <a:spcPts val="3795"/>
              </a:lnSpc>
            </a:pPr>
            <a:r>
              <a:rPr lang="en-US" sz="2672" b="1">
                <a:solidFill>
                  <a:srgbClr val="F1F5EE">
                    <a:alpha val="97647"/>
                  </a:srgbClr>
                </a:solidFill>
                <a:latin typeface="DM Sans Bold"/>
                <a:ea typeface="DM Sans Bold"/>
                <a:cs typeface="DM Sans Bold"/>
                <a:sym typeface="DM Sans Bold"/>
              </a:rPr>
              <a:t>3. Pricing &amp; Item-Level Performance:</a:t>
            </a:r>
          </a:p>
          <a:p>
            <a:pPr marL="0" lvl="0" indent="0" algn="l">
              <a:lnSpc>
                <a:spcPts val="3795"/>
              </a:lnSpc>
            </a:pPr>
            <a:endParaRPr lang="en-US" sz="2672" b="1">
              <a:solidFill>
                <a:srgbClr val="F1F5EE">
                  <a:alpha val="97647"/>
                </a:srgbClr>
              </a:solidFill>
              <a:latin typeface="DM Sans Bold"/>
              <a:ea typeface="DM Sans Bold"/>
              <a:cs typeface="DM Sans Bold"/>
              <a:sym typeface="DM Sans Bold"/>
            </a:endParaRPr>
          </a:p>
          <a:p>
            <a:pPr marL="577093" lvl="1" indent="-288546" algn="l">
              <a:lnSpc>
                <a:spcPts val="3795"/>
              </a:lnSpc>
              <a:buFont typeface="Arial"/>
              <a:buChar char="•"/>
            </a:pPr>
            <a:r>
              <a:rPr lang="en-US" sz="2672">
                <a:solidFill>
                  <a:srgbClr val="F1F5EE">
                    <a:alpha val="97647"/>
                  </a:srgbClr>
                </a:solidFill>
                <a:latin typeface="DM Sans"/>
                <a:ea typeface="DM Sans"/>
                <a:cs typeface="DM Sans"/>
                <a:sym typeface="DM Sans"/>
              </a:rPr>
              <a:t>The most ordered items span a wide price range </a:t>
            </a:r>
            <a:r>
              <a:rPr lang="en-US" sz="2672" b="1">
                <a:solidFill>
                  <a:srgbClr val="F1F5EE">
                    <a:alpha val="97647"/>
                  </a:srgbClr>
                </a:solidFill>
                <a:latin typeface="DM Sans Bold"/>
                <a:ea typeface="DM Sans Bold"/>
                <a:cs typeface="DM Sans Bold"/>
                <a:sym typeface="DM Sans Bold"/>
              </a:rPr>
              <a:t>(5.00 to 17.95)</a:t>
            </a:r>
            <a:r>
              <a:rPr lang="en-US" sz="2672">
                <a:solidFill>
                  <a:srgbClr val="F1F5EE">
                    <a:alpha val="97647"/>
                  </a:srgbClr>
                </a:solidFill>
                <a:latin typeface="DM Sans"/>
                <a:ea typeface="DM Sans"/>
                <a:cs typeface="DM Sans"/>
                <a:sym typeface="DM Sans"/>
              </a:rPr>
              <a:t>, proving that customers are willing to purchase both low-cost and premium items.</a:t>
            </a:r>
          </a:p>
          <a:p>
            <a:pPr marL="577093" lvl="1" indent="-288546" algn="l">
              <a:lnSpc>
                <a:spcPts val="3795"/>
              </a:lnSpc>
              <a:buFont typeface="Arial"/>
              <a:buChar char="•"/>
            </a:pPr>
            <a:r>
              <a:rPr lang="en-US" sz="2672">
                <a:solidFill>
                  <a:srgbClr val="F1F5EE">
                    <a:alpha val="97647"/>
                  </a:srgbClr>
                </a:solidFill>
                <a:latin typeface="DM Sans"/>
                <a:ea typeface="DM Sans"/>
                <a:cs typeface="DM Sans"/>
                <a:sym typeface="DM Sans"/>
              </a:rPr>
              <a:t>Items priced around </a:t>
            </a:r>
            <a:r>
              <a:rPr lang="en-US" sz="2672" b="1">
                <a:solidFill>
                  <a:srgbClr val="F1F5EE">
                    <a:alpha val="97647"/>
                  </a:srgbClr>
                </a:solidFill>
                <a:latin typeface="DM Sans Bold"/>
                <a:ea typeface="DM Sans Bold"/>
                <a:cs typeface="DM Sans Bold"/>
                <a:sym typeface="DM Sans Bold"/>
              </a:rPr>
              <a:t>12.95 and 5.00 </a:t>
            </a:r>
            <a:r>
              <a:rPr lang="en-US" sz="2672">
                <a:solidFill>
                  <a:srgbClr val="F1F5EE">
                    <a:alpha val="97647"/>
                  </a:srgbClr>
                </a:solidFill>
                <a:latin typeface="DM Sans"/>
                <a:ea typeface="DM Sans"/>
                <a:cs typeface="DM Sans"/>
                <a:sym typeface="DM Sans"/>
              </a:rPr>
              <a:t>reached the highest number of orders </a:t>
            </a:r>
            <a:r>
              <a:rPr lang="en-US" sz="2672" b="1">
                <a:solidFill>
                  <a:srgbClr val="F1F5EE">
                    <a:alpha val="97647"/>
                  </a:srgbClr>
                </a:solidFill>
                <a:latin typeface="DM Sans Bold"/>
                <a:ea typeface="DM Sans Bold"/>
                <a:cs typeface="DM Sans Bold"/>
                <a:sym typeface="DM Sans Bold"/>
              </a:rPr>
              <a:t>(622 orders each)</a:t>
            </a:r>
            <a:r>
              <a:rPr lang="en-US" sz="2672">
                <a:solidFill>
                  <a:srgbClr val="F1F5EE">
                    <a:alpha val="97647"/>
                  </a:srgbClr>
                </a:solidFill>
                <a:latin typeface="DM Sans"/>
                <a:ea typeface="DM Sans"/>
                <a:cs typeface="DM Sans"/>
                <a:sym typeface="DM Sans"/>
              </a:rPr>
              <a:t>, showing strong mass appeal.</a:t>
            </a:r>
          </a:p>
          <a:p>
            <a:pPr marL="577093" lvl="1" indent="-288546" algn="l">
              <a:lnSpc>
                <a:spcPts val="3795"/>
              </a:lnSpc>
              <a:buFont typeface="Arial"/>
              <a:buChar char="•"/>
            </a:pPr>
            <a:r>
              <a:rPr lang="en-US" sz="2672">
                <a:solidFill>
                  <a:srgbClr val="F1F5EE">
                    <a:alpha val="97647"/>
                  </a:srgbClr>
                </a:solidFill>
                <a:latin typeface="DM Sans"/>
                <a:ea typeface="DM Sans"/>
                <a:cs typeface="DM Sans"/>
                <a:sym typeface="DM Sans"/>
              </a:rPr>
              <a:t>Higher-priced items </a:t>
            </a:r>
            <a:r>
              <a:rPr lang="en-US" sz="2672" b="1">
                <a:solidFill>
                  <a:srgbClr val="F1F5EE">
                    <a:alpha val="97647"/>
                  </a:srgbClr>
                </a:solidFill>
                <a:latin typeface="DM Sans Bold"/>
                <a:ea typeface="DM Sans Bold"/>
                <a:cs typeface="DM Sans Bold"/>
                <a:sym typeface="DM Sans Bold"/>
              </a:rPr>
              <a:t>(16.50–17.95)</a:t>
            </a:r>
            <a:r>
              <a:rPr lang="en-US" sz="2672">
                <a:solidFill>
                  <a:srgbClr val="F1F5EE">
                    <a:alpha val="97647"/>
                  </a:srgbClr>
                </a:solidFill>
                <a:latin typeface="DM Sans"/>
                <a:ea typeface="DM Sans"/>
                <a:cs typeface="DM Sans"/>
                <a:sym typeface="DM Sans"/>
              </a:rPr>
              <a:t> still achieved </a:t>
            </a:r>
            <a:r>
              <a:rPr lang="en-US" sz="2672" b="1">
                <a:solidFill>
                  <a:srgbClr val="F1F5EE">
                    <a:alpha val="97647"/>
                  </a:srgbClr>
                </a:solidFill>
                <a:latin typeface="DM Sans Bold"/>
                <a:ea typeface="DM Sans Bold"/>
                <a:cs typeface="DM Sans Bold"/>
                <a:sym typeface="DM Sans Bold"/>
              </a:rPr>
              <a:t>450+ orders</a:t>
            </a:r>
            <a:r>
              <a:rPr lang="en-US" sz="2672">
                <a:solidFill>
                  <a:srgbClr val="F1F5EE">
                    <a:alpha val="97647"/>
                  </a:srgbClr>
                </a:solidFill>
                <a:latin typeface="DM Sans"/>
                <a:ea typeface="DM Sans"/>
                <a:cs typeface="DM Sans"/>
                <a:sym typeface="DM Sans"/>
              </a:rPr>
              <a:t>, indicating strong perceived value rather than price sensitivity alone.</a:t>
            </a:r>
          </a:p>
          <a:p>
            <a:pPr marL="577093" lvl="1" indent="-288546" algn="l">
              <a:lnSpc>
                <a:spcPts val="3795"/>
              </a:lnSpc>
              <a:buFont typeface="Arial"/>
              <a:buChar char="•"/>
            </a:pPr>
            <a:r>
              <a:rPr lang="en-US" sz="2672">
                <a:solidFill>
                  <a:srgbClr val="F1F5EE">
                    <a:alpha val="97647"/>
                  </a:srgbClr>
                </a:solidFill>
                <a:latin typeface="DM Sans"/>
                <a:ea typeface="DM Sans"/>
                <a:cs typeface="DM Sans"/>
                <a:sym typeface="DM Sans"/>
              </a:rPr>
              <a:t>Mid-priced items </a:t>
            </a:r>
            <a:r>
              <a:rPr lang="en-US" sz="2672" b="1">
                <a:solidFill>
                  <a:srgbClr val="F1F5EE">
                    <a:alpha val="97647"/>
                  </a:srgbClr>
                </a:solidFill>
                <a:latin typeface="DM Sans Bold"/>
                <a:ea typeface="DM Sans Bold"/>
                <a:cs typeface="DM Sans Bold"/>
                <a:sym typeface="DM Sans Bold"/>
              </a:rPr>
              <a:t>(13.95–14.50)</a:t>
            </a:r>
            <a:r>
              <a:rPr lang="en-US" sz="2672">
                <a:solidFill>
                  <a:srgbClr val="F1F5EE">
                    <a:alpha val="97647"/>
                  </a:srgbClr>
                </a:solidFill>
                <a:latin typeface="DM Sans"/>
                <a:ea typeface="DM Sans"/>
                <a:cs typeface="DM Sans"/>
                <a:sym typeface="DM Sans"/>
              </a:rPr>
              <a:t> consistently appear among top sellers.</a:t>
            </a:r>
          </a:p>
          <a:p>
            <a:pPr marL="0" lvl="0" indent="0" algn="l">
              <a:lnSpc>
                <a:spcPts val="3795"/>
              </a:lnSpc>
            </a:pPr>
            <a:endParaRPr lang="en-US" sz="2672">
              <a:solidFill>
                <a:srgbClr val="F1F5EE">
                  <a:alpha val="97647"/>
                </a:srgbClr>
              </a:solidFill>
              <a:latin typeface="DM Sans"/>
              <a:ea typeface="DM Sans"/>
              <a:cs typeface="DM Sans"/>
              <a:sym typeface="DM Sans"/>
            </a:endParaRPr>
          </a:p>
        </p:txBody>
      </p:sp>
      <p:grpSp>
        <p:nvGrpSpPr>
          <p:cNvPr id="6" name="Group 6"/>
          <p:cNvGrpSpPr/>
          <p:nvPr/>
        </p:nvGrpSpPr>
        <p:grpSpPr>
          <a:xfrm rot="-5400000">
            <a:off x="8018643" y="2342357"/>
            <a:ext cx="1889449" cy="12526748"/>
            <a:chOff x="0" y="0"/>
            <a:chExt cx="381000" cy="2525970"/>
          </a:xfrm>
        </p:grpSpPr>
        <p:sp>
          <p:nvSpPr>
            <p:cNvPr id="7" name="Freeform 7"/>
            <p:cNvSpPr/>
            <p:nvPr/>
          </p:nvSpPr>
          <p:spPr>
            <a:xfrm>
              <a:off x="0" y="0"/>
              <a:ext cx="381000" cy="2525970"/>
            </a:xfrm>
            <a:custGeom>
              <a:avLst/>
              <a:gdLst/>
              <a:ahLst/>
              <a:cxnLst/>
              <a:rect l="l" t="t" r="r" b="b"/>
              <a:pathLst>
                <a:path w="381000" h="2525970">
                  <a:moveTo>
                    <a:pt x="381000" y="73704"/>
                  </a:moveTo>
                  <a:lnTo>
                    <a:pt x="381000" y="2357060"/>
                  </a:lnTo>
                  <a:lnTo>
                    <a:pt x="190500" y="2525970"/>
                  </a:lnTo>
                  <a:lnTo>
                    <a:pt x="0" y="2357060"/>
                  </a:lnTo>
                  <a:lnTo>
                    <a:pt x="0" y="73704"/>
                  </a:lnTo>
                  <a:cubicBezTo>
                    <a:pt x="0" y="22860"/>
                    <a:pt x="22860" y="0"/>
                    <a:pt x="49530" y="0"/>
                  </a:cubicBezTo>
                  <a:lnTo>
                    <a:pt x="331470" y="0"/>
                  </a:lnTo>
                  <a:cubicBezTo>
                    <a:pt x="358140" y="0"/>
                    <a:pt x="381000" y="22860"/>
                    <a:pt x="381000" y="73704"/>
                  </a:cubicBezTo>
                  <a:close/>
                </a:path>
              </a:pathLst>
            </a:custGeom>
            <a:solidFill>
              <a:srgbClr val="F1E2AB"/>
            </a:solidFill>
          </p:spPr>
        </p:sp>
        <p:sp>
          <p:nvSpPr>
            <p:cNvPr id="8" name="TextBox 8"/>
            <p:cNvSpPr txBox="1"/>
            <p:nvPr/>
          </p:nvSpPr>
          <p:spPr>
            <a:xfrm>
              <a:off x="0" y="0"/>
              <a:ext cx="381000" cy="2349440"/>
            </a:xfrm>
            <a:prstGeom prst="rect">
              <a:avLst/>
            </a:prstGeom>
          </p:spPr>
          <p:txBody>
            <a:bodyPr lIns="50800" tIns="50800" rIns="50800" bIns="50800" rtlCol="0" anchor="ctr"/>
            <a:lstStyle/>
            <a:p>
              <a:pPr algn="ctr">
                <a:lnSpc>
                  <a:spcPts val="2879"/>
                </a:lnSpc>
              </a:pPr>
              <a:endParaRPr/>
            </a:p>
          </p:txBody>
        </p:sp>
      </p:grpSp>
      <p:sp>
        <p:nvSpPr>
          <p:cNvPr id="9" name="TextBox 9"/>
          <p:cNvSpPr txBox="1"/>
          <p:nvPr/>
        </p:nvSpPr>
        <p:spPr>
          <a:xfrm>
            <a:off x="356151" y="504825"/>
            <a:ext cx="4687686" cy="1209675"/>
          </a:xfrm>
          <a:prstGeom prst="rect">
            <a:avLst/>
          </a:prstGeom>
        </p:spPr>
        <p:txBody>
          <a:bodyPr lIns="0" tIns="0" rIns="0" bIns="0" rtlCol="0" anchor="t">
            <a:spAutoFit/>
          </a:bodyPr>
          <a:lstStyle/>
          <a:p>
            <a:pPr marL="0" lvl="0" indent="0" algn="l">
              <a:lnSpc>
                <a:spcPts val="9000"/>
              </a:lnSpc>
            </a:pPr>
            <a:r>
              <a:rPr lang="en-US" sz="9000" spc="-270">
                <a:solidFill>
                  <a:srgbClr val="F1F5EE"/>
                </a:solidFill>
                <a:latin typeface="DM Sans"/>
                <a:ea typeface="DM Sans"/>
                <a:cs typeface="DM Sans"/>
                <a:sym typeface="DM Sans"/>
              </a:rPr>
              <a:t>Insights</a:t>
            </a:r>
          </a:p>
        </p:txBody>
      </p:sp>
      <p:sp>
        <p:nvSpPr>
          <p:cNvPr id="10" name="TextBox 10"/>
          <p:cNvSpPr txBox="1"/>
          <p:nvPr/>
        </p:nvSpPr>
        <p:spPr>
          <a:xfrm>
            <a:off x="3097733" y="8215205"/>
            <a:ext cx="11181024" cy="781050"/>
          </a:xfrm>
          <a:prstGeom prst="rect">
            <a:avLst/>
          </a:prstGeom>
        </p:spPr>
        <p:txBody>
          <a:bodyPr lIns="0" tIns="0" rIns="0" bIns="0" rtlCol="0" anchor="t">
            <a:spAutoFit/>
          </a:bodyPr>
          <a:lstStyle/>
          <a:p>
            <a:pPr algn="ctr">
              <a:lnSpc>
                <a:spcPts val="3119"/>
              </a:lnSpc>
              <a:spcBef>
                <a:spcPct val="0"/>
              </a:spcBef>
            </a:pPr>
            <a:r>
              <a:rPr lang="en-US" sz="2599" b="1">
                <a:solidFill>
                  <a:srgbClr val="545454"/>
                </a:solidFill>
                <a:latin typeface="DM Sans Bold"/>
                <a:ea typeface="DM Sans Bold"/>
                <a:cs typeface="DM Sans Bold"/>
                <a:sym typeface="DM Sans Bold"/>
              </a:rPr>
              <a:t>Price alone does not drive demand, </a:t>
            </a:r>
            <a:r>
              <a:rPr lang="en-US" sz="2599" b="1">
                <a:solidFill>
                  <a:srgbClr val="6AAE7C"/>
                </a:solidFill>
                <a:latin typeface="DM Sans Bold"/>
                <a:ea typeface="DM Sans Bold"/>
                <a:cs typeface="DM Sans Bold"/>
                <a:sym typeface="DM Sans Bold"/>
              </a:rPr>
              <a:t>value perception and product appeal play a critical role</a:t>
            </a:r>
            <a:r>
              <a:rPr lang="en-US" sz="2599" b="1">
                <a:solidFill>
                  <a:srgbClr val="545454"/>
                </a:solidFill>
                <a:latin typeface="DM Sans Bold"/>
                <a:ea typeface="DM Sans Bold"/>
                <a:cs typeface="DM Sans Bold"/>
                <a:sym typeface="DM Sans Bold"/>
              </a:rPr>
              <a:t>.</a:t>
            </a:r>
          </a:p>
        </p:txBody>
      </p:sp>
      <p:sp>
        <p:nvSpPr>
          <p:cNvPr id="11" name="TextBox 11"/>
          <p:cNvSpPr txBox="1"/>
          <p:nvPr/>
        </p:nvSpPr>
        <p:spPr>
          <a:xfrm>
            <a:off x="17290362" y="9579915"/>
            <a:ext cx="282893"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879263" y="362231"/>
            <a:ext cx="8634295" cy="1332937"/>
            <a:chOff x="0" y="0"/>
            <a:chExt cx="2274053" cy="351062"/>
          </a:xfrm>
        </p:grpSpPr>
        <p:sp>
          <p:nvSpPr>
            <p:cNvPr id="3" name="Freeform 3"/>
            <p:cNvSpPr/>
            <p:nvPr/>
          </p:nvSpPr>
          <p:spPr>
            <a:xfrm>
              <a:off x="0" y="0"/>
              <a:ext cx="2274053" cy="351062"/>
            </a:xfrm>
            <a:custGeom>
              <a:avLst/>
              <a:gdLst/>
              <a:ahLst/>
              <a:cxnLst/>
              <a:rect l="l" t="t" r="r" b="b"/>
              <a:pathLst>
                <a:path w="2274053" h="351062">
                  <a:moveTo>
                    <a:pt x="45729" y="0"/>
                  </a:moveTo>
                  <a:lnTo>
                    <a:pt x="2228324" y="0"/>
                  </a:lnTo>
                  <a:cubicBezTo>
                    <a:pt x="2240452" y="0"/>
                    <a:pt x="2252083" y="4818"/>
                    <a:pt x="2260659" y="13394"/>
                  </a:cubicBezTo>
                  <a:cubicBezTo>
                    <a:pt x="2269235" y="21970"/>
                    <a:pt x="2274053" y="33601"/>
                    <a:pt x="2274053" y="45729"/>
                  </a:cubicBezTo>
                  <a:lnTo>
                    <a:pt x="2274053" y="305333"/>
                  </a:lnTo>
                  <a:cubicBezTo>
                    <a:pt x="2274053" y="330588"/>
                    <a:pt x="2253579" y="351062"/>
                    <a:pt x="2228324" y="351062"/>
                  </a:cubicBezTo>
                  <a:lnTo>
                    <a:pt x="45729" y="351062"/>
                  </a:lnTo>
                  <a:cubicBezTo>
                    <a:pt x="33601" y="351062"/>
                    <a:pt x="21970" y="346244"/>
                    <a:pt x="13394" y="337668"/>
                  </a:cubicBezTo>
                  <a:cubicBezTo>
                    <a:pt x="4818" y="329092"/>
                    <a:pt x="0" y="317461"/>
                    <a:pt x="0" y="305333"/>
                  </a:cubicBezTo>
                  <a:lnTo>
                    <a:pt x="0" y="45729"/>
                  </a:lnTo>
                  <a:cubicBezTo>
                    <a:pt x="0" y="20474"/>
                    <a:pt x="20474" y="0"/>
                    <a:pt x="45729" y="0"/>
                  </a:cubicBezTo>
                  <a:close/>
                </a:path>
              </a:pathLst>
            </a:custGeom>
            <a:solidFill>
              <a:srgbClr val="6AAE7C"/>
            </a:solidFill>
          </p:spPr>
        </p:sp>
        <p:sp>
          <p:nvSpPr>
            <p:cNvPr id="4" name="TextBox 4"/>
            <p:cNvSpPr txBox="1"/>
            <p:nvPr/>
          </p:nvSpPr>
          <p:spPr>
            <a:xfrm>
              <a:off x="0" y="0"/>
              <a:ext cx="2274053" cy="351062"/>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1430199" y="2408774"/>
            <a:ext cx="15427602" cy="7019369"/>
          </a:xfrm>
          <a:prstGeom prst="rect">
            <a:avLst/>
          </a:prstGeom>
        </p:spPr>
        <p:txBody>
          <a:bodyPr lIns="0" tIns="0" rIns="0" bIns="0" rtlCol="0" anchor="t">
            <a:spAutoFit/>
          </a:bodyPr>
          <a:lstStyle/>
          <a:p>
            <a:pPr marL="0" lvl="0" indent="0" algn="l">
              <a:lnSpc>
                <a:spcPts val="4076"/>
              </a:lnSpc>
            </a:pPr>
            <a:r>
              <a:rPr lang="en-US" sz="2772" b="1">
                <a:solidFill>
                  <a:srgbClr val="F1F5EE">
                    <a:alpha val="97647"/>
                  </a:srgbClr>
                </a:solidFill>
                <a:latin typeface="DM Sans Bold"/>
                <a:ea typeface="DM Sans Bold"/>
                <a:cs typeface="DM Sans Bold"/>
                <a:sym typeface="DM Sans Bold"/>
              </a:rPr>
              <a:t>1. Optimize Promotions Based on Demand Cycles:</a:t>
            </a:r>
          </a:p>
          <a:p>
            <a:pPr marL="598682" lvl="1" indent="-299341" algn="l">
              <a:lnSpc>
                <a:spcPts val="4076"/>
              </a:lnSpc>
              <a:buFont typeface="Arial"/>
              <a:buChar char="•"/>
            </a:pPr>
            <a:r>
              <a:rPr lang="en-US" sz="2772">
                <a:solidFill>
                  <a:srgbClr val="F1F5EE">
                    <a:alpha val="97647"/>
                  </a:srgbClr>
                </a:solidFill>
                <a:latin typeface="DM Sans"/>
                <a:ea typeface="DM Sans"/>
                <a:cs typeface="DM Sans"/>
                <a:sym typeface="DM Sans"/>
              </a:rPr>
              <a:t>Introduce </a:t>
            </a:r>
            <a:r>
              <a:rPr lang="en-US" sz="2772" b="1">
                <a:solidFill>
                  <a:srgbClr val="FFBD59">
                    <a:alpha val="97647"/>
                  </a:srgbClr>
                </a:solidFill>
                <a:latin typeface="DM Sans Bold"/>
                <a:ea typeface="DM Sans Bold"/>
                <a:cs typeface="DM Sans Bold"/>
                <a:sym typeface="DM Sans Bold"/>
              </a:rPr>
              <a:t>end of month promotions</a:t>
            </a:r>
            <a:r>
              <a:rPr lang="en-US" sz="2772">
                <a:solidFill>
                  <a:srgbClr val="F1F5EE">
                    <a:alpha val="97647"/>
                  </a:srgbClr>
                </a:solidFill>
                <a:latin typeface="DM Sans"/>
                <a:ea typeface="DM Sans"/>
                <a:cs typeface="DM Sans"/>
                <a:sym typeface="DM Sans"/>
              </a:rPr>
              <a:t> to counter recurring sales drops.</a:t>
            </a:r>
          </a:p>
          <a:p>
            <a:pPr marL="598682" lvl="1" indent="-299341" algn="l">
              <a:lnSpc>
                <a:spcPts val="5129"/>
              </a:lnSpc>
              <a:buFont typeface="Arial"/>
              <a:buChar char="•"/>
            </a:pPr>
            <a:r>
              <a:rPr lang="en-US" sz="2772">
                <a:solidFill>
                  <a:srgbClr val="F1F5EE">
                    <a:alpha val="97647"/>
                  </a:srgbClr>
                </a:solidFill>
                <a:latin typeface="DM Sans"/>
                <a:ea typeface="DM Sans"/>
                <a:cs typeface="DM Sans"/>
                <a:sym typeface="DM Sans"/>
              </a:rPr>
              <a:t>Schedule targeted </a:t>
            </a:r>
            <a:r>
              <a:rPr lang="en-US" sz="2772" b="1">
                <a:solidFill>
                  <a:srgbClr val="FFBD59">
                    <a:alpha val="97647"/>
                  </a:srgbClr>
                </a:solidFill>
                <a:latin typeface="DM Sans Bold"/>
                <a:ea typeface="DM Sans Bold"/>
                <a:cs typeface="DM Sans Bold"/>
                <a:sym typeface="DM Sans Bold"/>
              </a:rPr>
              <a:t>discounts or bundles</a:t>
            </a:r>
            <a:r>
              <a:rPr lang="en-US" sz="2772">
                <a:solidFill>
                  <a:srgbClr val="F1F5EE">
                    <a:alpha val="97647"/>
                  </a:srgbClr>
                </a:solidFill>
                <a:latin typeface="DM Sans"/>
                <a:ea typeface="DM Sans"/>
                <a:cs typeface="DM Sans"/>
                <a:sym typeface="DM Sans"/>
              </a:rPr>
              <a:t> around days 25–30, when demand is lowest.</a:t>
            </a:r>
          </a:p>
          <a:p>
            <a:pPr algn="l">
              <a:lnSpc>
                <a:spcPts val="5129"/>
              </a:lnSpc>
            </a:pPr>
            <a:endParaRPr lang="en-US" sz="2772">
              <a:solidFill>
                <a:srgbClr val="F1F5EE">
                  <a:alpha val="97647"/>
                </a:srgbClr>
              </a:solidFill>
              <a:latin typeface="DM Sans"/>
              <a:ea typeface="DM Sans"/>
              <a:cs typeface="DM Sans"/>
              <a:sym typeface="DM Sans"/>
            </a:endParaRPr>
          </a:p>
          <a:p>
            <a:pPr algn="l">
              <a:lnSpc>
                <a:spcPts val="5129"/>
              </a:lnSpc>
            </a:pPr>
            <a:endParaRPr lang="en-US" sz="2772">
              <a:solidFill>
                <a:srgbClr val="F1F5EE">
                  <a:alpha val="97647"/>
                </a:srgbClr>
              </a:solidFill>
              <a:latin typeface="DM Sans"/>
              <a:ea typeface="DM Sans"/>
              <a:cs typeface="DM Sans"/>
              <a:sym typeface="DM Sans"/>
            </a:endParaRPr>
          </a:p>
          <a:p>
            <a:pPr algn="l">
              <a:lnSpc>
                <a:spcPts val="5129"/>
              </a:lnSpc>
            </a:pPr>
            <a:r>
              <a:rPr lang="en-US" sz="2772" b="1">
                <a:solidFill>
                  <a:srgbClr val="F1F5EE">
                    <a:alpha val="97647"/>
                  </a:srgbClr>
                </a:solidFill>
                <a:latin typeface="DM Sans Bold"/>
                <a:ea typeface="DM Sans Bold"/>
                <a:cs typeface="DM Sans Bold"/>
                <a:sym typeface="DM Sans Bold"/>
              </a:rPr>
              <a:t>2. Leverage High Performing Categories:</a:t>
            </a:r>
          </a:p>
          <a:p>
            <a:pPr marL="598682" lvl="1" indent="-299341" algn="l">
              <a:lnSpc>
                <a:spcPts val="3882"/>
              </a:lnSpc>
              <a:buFont typeface="Arial"/>
              <a:buChar char="•"/>
            </a:pPr>
            <a:r>
              <a:rPr lang="en-US" sz="2772">
                <a:solidFill>
                  <a:srgbClr val="F1F5EE">
                    <a:alpha val="97647"/>
                  </a:srgbClr>
                </a:solidFill>
                <a:latin typeface="DM Sans"/>
                <a:ea typeface="DM Sans"/>
                <a:cs typeface="DM Sans"/>
                <a:sym typeface="DM Sans"/>
              </a:rPr>
              <a:t>Continue </a:t>
            </a:r>
            <a:r>
              <a:rPr lang="en-US" sz="2772" b="1">
                <a:solidFill>
                  <a:srgbClr val="FFBD59">
                    <a:alpha val="97647"/>
                  </a:srgbClr>
                </a:solidFill>
                <a:latin typeface="DM Sans Bold"/>
                <a:ea typeface="DM Sans Bold"/>
                <a:cs typeface="DM Sans Bold"/>
                <a:sym typeface="DM Sans Bold"/>
              </a:rPr>
              <a:t>investing in Asian cuisine</a:t>
            </a:r>
            <a:r>
              <a:rPr lang="en-US" sz="2772">
                <a:solidFill>
                  <a:srgbClr val="F1F5EE">
                    <a:alpha val="97647"/>
                  </a:srgbClr>
                </a:solidFill>
                <a:latin typeface="DM Sans"/>
                <a:ea typeface="DM Sans"/>
                <a:cs typeface="DM Sans"/>
                <a:sym typeface="DM Sans"/>
              </a:rPr>
              <a:t>, as it combines strong volume with sustainable pricing.</a:t>
            </a:r>
          </a:p>
          <a:p>
            <a:pPr marL="598682" lvl="1" indent="-299341" algn="l">
              <a:lnSpc>
                <a:spcPts val="3882"/>
              </a:lnSpc>
              <a:buFont typeface="Arial"/>
              <a:buChar char="•"/>
            </a:pPr>
            <a:r>
              <a:rPr lang="en-US" sz="2772">
                <a:solidFill>
                  <a:srgbClr val="F1F5EE">
                    <a:alpha val="97647"/>
                  </a:srgbClr>
                </a:solidFill>
                <a:latin typeface="DM Sans"/>
                <a:ea typeface="DM Sans"/>
                <a:cs typeface="DM Sans"/>
                <a:sym typeface="DM Sans"/>
              </a:rPr>
              <a:t>Highlight </a:t>
            </a:r>
            <a:r>
              <a:rPr lang="en-US" sz="2772" b="1">
                <a:solidFill>
                  <a:srgbClr val="FFBD59">
                    <a:alpha val="97647"/>
                  </a:srgbClr>
                </a:solidFill>
                <a:latin typeface="DM Sans Bold"/>
                <a:ea typeface="DM Sans Bold"/>
                <a:cs typeface="DM Sans Bold"/>
                <a:sym typeface="DM Sans Bold"/>
              </a:rPr>
              <a:t>Italian dishes</a:t>
            </a:r>
            <a:r>
              <a:rPr lang="en-US" sz="2772">
                <a:solidFill>
                  <a:srgbClr val="F1F5EE">
                    <a:alpha val="97647"/>
                  </a:srgbClr>
                </a:solidFill>
                <a:latin typeface="DM Sans"/>
                <a:ea typeface="DM Sans"/>
                <a:cs typeface="DM Sans"/>
                <a:sym typeface="DM Sans"/>
              </a:rPr>
              <a:t> as premium offerings through chef specials or featured menu placements.</a:t>
            </a:r>
          </a:p>
          <a:p>
            <a:pPr marL="598682" lvl="1" indent="-299341" algn="l">
              <a:lnSpc>
                <a:spcPts val="3882"/>
              </a:lnSpc>
              <a:buFont typeface="Arial"/>
              <a:buChar char="•"/>
            </a:pPr>
            <a:r>
              <a:rPr lang="en-US" sz="2772">
                <a:solidFill>
                  <a:srgbClr val="F1F5EE">
                    <a:alpha val="97647"/>
                  </a:srgbClr>
                </a:solidFill>
                <a:latin typeface="DM Sans"/>
                <a:ea typeface="DM Sans"/>
                <a:cs typeface="DM Sans"/>
                <a:sym typeface="DM Sans"/>
              </a:rPr>
              <a:t>Consider expanding high performing Asian and Italian items with variations or combo offers.</a:t>
            </a:r>
          </a:p>
          <a:p>
            <a:pPr algn="l">
              <a:lnSpc>
                <a:spcPts val="3937"/>
              </a:lnSpc>
            </a:pPr>
            <a:endParaRPr lang="en-US" sz="2772">
              <a:solidFill>
                <a:srgbClr val="F1F5EE">
                  <a:alpha val="97647"/>
                </a:srgbClr>
              </a:solidFill>
              <a:latin typeface="DM Sans"/>
              <a:ea typeface="DM Sans"/>
              <a:cs typeface="DM Sans"/>
              <a:sym typeface="DM Sans"/>
            </a:endParaRPr>
          </a:p>
          <a:p>
            <a:pPr algn="l">
              <a:lnSpc>
                <a:spcPts val="3937"/>
              </a:lnSpc>
            </a:pPr>
            <a:endParaRPr lang="en-US" sz="2772">
              <a:solidFill>
                <a:srgbClr val="F1F5EE">
                  <a:alpha val="97647"/>
                </a:srgbClr>
              </a:solidFill>
              <a:latin typeface="DM Sans"/>
              <a:ea typeface="DM Sans"/>
              <a:cs typeface="DM Sans"/>
              <a:sym typeface="DM Sans"/>
            </a:endParaRPr>
          </a:p>
        </p:txBody>
      </p:sp>
      <p:sp>
        <p:nvSpPr>
          <p:cNvPr id="6" name="TextBox 6"/>
          <p:cNvSpPr txBox="1"/>
          <p:nvPr/>
        </p:nvSpPr>
        <p:spPr>
          <a:xfrm>
            <a:off x="182530" y="662935"/>
            <a:ext cx="6944760" cy="845830"/>
          </a:xfrm>
          <a:prstGeom prst="rect">
            <a:avLst/>
          </a:prstGeom>
        </p:spPr>
        <p:txBody>
          <a:bodyPr lIns="0" tIns="0" rIns="0" bIns="0" rtlCol="0" anchor="t">
            <a:spAutoFit/>
          </a:bodyPr>
          <a:lstStyle/>
          <a:p>
            <a:pPr marL="0" lvl="0" indent="0" algn="l">
              <a:lnSpc>
                <a:spcPts val="6300"/>
              </a:lnSpc>
            </a:pPr>
            <a:r>
              <a:rPr lang="en-US" sz="6300" spc="-189">
                <a:solidFill>
                  <a:srgbClr val="F1F5EE"/>
                </a:solidFill>
                <a:latin typeface="DM Sans"/>
                <a:ea typeface="DM Sans"/>
                <a:cs typeface="DM Sans"/>
                <a:sym typeface="DM Sans"/>
              </a:rPr>
              <a:t>Recommendations</a:t>
            </a:r>
          </a:p>
        </p:txBody>
      </p:sp>
      <p:sp>
        <p:nvSpPr>
          <p:cNvPr id="7" name="TextBox 7"/>
          <p:cNvSpPr txBox="1"/>
          <p:nvPr/>
        </p:nvSpPr>
        <p:spPr>
          <a:xfrm>
            <a:off x="17305126" y="9579915"/>
            <a:ext cx="253365"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A6A47"/>
        </a:solidFill>
        <a:effectLst/>
      </p:bgPr>
    </p:bg>
    <p:spTree>
      <p:nvGrpSpPr>
        <p:cNvPr id="1" name=""/>
        <p:cNvGrpSpPr/>
        <p:nvPr/>
      </p:nvGrpSpPr>
      <p:grpSpPr>
        <a:xfrm>
          <a:off x="0" y="0"/>
          <a:ext cx="0" cy="0"/>
          <a:chOff x="0" y="0"/>
          <a:chExt cx="0" cy="0"/>
        </a:xfrm>
      </p:grpSpPr>
      <p:grpSp>
        <p:nvGrpSpPr>
          <p:cNvPr id="2" name="Group 2"/>
          <p:cNvGrpSpPr/>
          <p:nvPr/>
        </p:nvGrpSpPr>
        <p:grpSpPr>
          <a:xfrm>
            <a:off x="-814156" y="362231"/>
            <a:ext cx="8634295" cy="1332937"/>
            <a:chOff x="0" y="0"/>
            <a:chExt cx="2274053" cy="351062"/>
          </a:xfrm>
        </p:grpSpPr>
        <p:sp>
          <p:nvSpPr>
            <p:cNvPr id="3" name="Freeform 3"/>
            <p:cNvSpPr/>
            <p:nvPr/>
          </p:nvSpPr>
          <p:spPr>
            <a:xfrm>
              <a:off x="0" y="0"/>
              <a:ext cx="2274053" cy="351062"/>
            </a:xfrm>
            <a:custGeom>
              <a:avLst/>
              <a:gdLst/>
              <a:ahLst/>
              <a:cxnLst/>
              <a:rect l="l" t="t" r="r" b="b"/>
              <a:pathLst>
                <a:path w="2274053" h="351062">
                  <a:moveTo>
                    <a:pt x="45729" y="0"/>
                  </a:moveTo>
                  <a:lnTo>
                    <a:pt x="2228324" y="0"/>
                  </a:lnTo>
                  <a:cubicBezTo>
                    <a:pt x="2240452" y="0"/>
                    <a:pt x="2252083" y="4818"/>
                    <a:pt x="2260659" y="13394"/>
                  </a:cubicBezTo>
                  <a:cubicBezTo>
                    <a:pt x="2269235" y="21970"/>
                    <a:pt x="2274053" y="33601"/>
                    <a:pt x="2274053" y="45729"/>
                  </a:cubicBezTo>
                  <a:lnTo>
                    <a:pt x="2274053" y="305333"/>
                  </a:lnTo>
                  <a:cubicBezTo>
                    <a:pt x="2274053" y="330588"/>
                    <a:pt x="2253579" y="351062"/>
                    <a:pt x="2228324" y="351062"/>
                  </a:cubicBezTo>
                  <a:lnTo>
                    <a:pt x="45729" y="351062"/>
                  </a:lnTo>
                  <a:cubicBezTo>
                    <a:pt x="33601" y="351062"/>
                    <a:pt x="21970" y="346244"/>
                    <a:pt x="13394" y="337668"/>
                  </a:cubicBezTo>
                  <a:cubicBezTo>
                    <a:pt x="4818" y="329092"/>
                    <a:pt x="0" y="317461"/>
                    <a:pt x="0" y="305333"/>
                  </a:cubicBezTo>
                  <a:lnTo>
                    <a:pt x="0" y="45729"/>
                  </a:lnTo>
                  <a:cubicBezTo>
                    <a:pt x="0" y="20474"/>
                    <a:pt x="20474" y="0"/>
                    <a:pt x="45729" y="0"/>
                  </a:cubicBezTo>
                  <a:close/>
                </a:path>
              </a:pathLst>
            </a:custGeom>
            <a:solidFill>
              <a:srgbClr val="6AAE7C"/>
            </a:solidFill>
          </p:spPr>
        </p:sp>
        <p:sp>
          <p:nvSpPr>
            <p:cNvPr id="4" name="TextBox 4"/>
            <p:cNvSpPr txBox="1"/>
            <p:nvPr/>
          </p:nvSpPr>
          <p:spPr>
            <a:xfrm>
              <a:off x="0" y="0"/>
              <a:ext cx="2274053" cy="351062"/>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1592969" y="2290004"/>
            <a:ext cx="15405900" cy="6640442"/>
          </a:xfrm>
          <a:prstGeom prst="rect">
            <a:avLst/>
          </a:prstGeom>
        </p:spPr>
        <p:txBody>
          <a:bodyPr lIns="0" tIns="0" rIns="0" bIns="0" rtlCol="0" anchor="t">
            <a:spAutoFit/>
          </a:bodyPr>
          <a:lstStyle/>
          <a:p>
            <a:pPr algn="l">
              <a:lnSpc>
                <a:spcPts val="3795"/>
              </a:lnSpc>
            </a:pPr>
            <a:r>
              <a:rPr lang="en-US" sz="2672" b="1">
                <a:solidFill>
                  <a:srgbClr val="F1F5EE">
                    <a:alpha val="97647"/>
                  </a:srgbClr>
                </a:solidFill>
                <a:latin typeface="DM Sans Bold"/>
                <a:ea typeface="DM Sans Bold"/>
                <a:cs typeface="DM Sans Bold"/>
                <a:sym typeface="DM Sans Bold"/>
              </a:rPr>
              <a:t>3. Improve Pricing Strategy:</a:t>
            </a:r>
          </a:p>
          <a:p>
            <a:pPr marL="577093" lvl="1" indent="-288546" algn="l">
              <a:lnSpc>
                <a:spcPts val="3795"/>
              </a:lnSpc>
              <a:buFont typeface="Arial"/>
              <a:buChar char="•"/>
            </a:pPr>
            <a:r>
              <a:rPr lang="en-US" sz="2672" b="1">
                <a:solidFill>
                  <a:srgbClr val="FFBD59">
                    <a:alpha val="97647"/>
                  </a:srgbClr>
                </a:solidFill>
                <a:latin typeface="DM Sans Bold"/>
                <a:ea typeface="DM Sans Bold"/>
                <a:cs typeface="DM Sans Bold"/>
                <a:sym typeface="DM Sans Bold"/>
              </a:rPr>
              <a:t>Reevaluate low selling, high priced items</a:t>
            </a:r>
            <a:r>
              <a:rPr lang="en-US" sz="2672">
                <a:solidFill>
                  <a:srgbClr val="F1F5EE">
                    <a:alpha val="97647"/>
                  </a:srgbClr>
                </a:solidFill>
                <a:latin typeface="DM Sans"/>
                <a:ea typeface="DM Sans"/>
                <a:cs typeface="DM Sans"/>
                <a:sym typeface="DM Sans"/>
              </a:rPr>
              <a:t> to assess whether price adjustments could increase demand.</a:t>
            </a:r>
          </a:p>
          <a:p>
            <a:pPr marL="577093" lvl="1" indent="-288546" algn="l">
              <a:lnSpc>
                <a:spcPts val="3795"/>
              </a:lnSpc>
              <a:buFont typeface="Arial"/>
              <a:buChar char="•"/>
            </a:pPr>
            <a:r>
              <a:rPr lang="en-US" sz="2672">
                <a:solidFill>
                  <a:srgbClr val="F1F5EE">
                    <a:alpha val="97647"/>
                  </a:srgbClr>
                </a:solidFill>
                <a:latin typeface="DM Sans"/>
                <a:ea typeface="DM Sans"/>
                <a:cs typeface="DM Sans"/>
                <a:sym typeface="DM Sans"/>
              </a:rPr>
              <a:t>Avoid aggressive discounting on premium items that already perform well.</a:t>
            </a:r>
          </a:p>
          <a:p>
            <a:pPr algn="l">
              <a:lnSpc>
                <a:spcPts val="3795"/>
              </a:lnSpc>
            </a:pPr>
            <a:endParaRPr lang="en-US" sz="2672">
              <a:solidFill>
                <a:srgbClr val="F1F5EE">
                  <a:alpha val="97647"/>
                </a:srgbClr>
              </a:solidFill>
              <a:latin typeface="DM Sans"/>
              <a:ea typeface="DM Sans"/>
              <a:cs typeface="DM Sans"/>
              <a:sym typeface="DM Sans"/>
            </a:endParaRPr>
          </a:p>
          <a:p>
            <a:pPr algn="l">
              <a:lnSpc>
                <a:spcPts val="3795"/>
              </a:lnSpc>
            </a:pPr>
            <a:endParaRPr lang="en-US" sz="2672">
              <a:solidFill>
                <a:srgbClr val="F1F5EE">
                  <a:alpha val="97647"/>
                </a:srgbClr>
              </a:solidFill>
              <a:latin typeface="DM Sans"/>
              <a:ea typeface="DM Sans"/>
              <a:cs typeface="DM Sans"/>
              <a:sym typeface="DM Sans"/>
            </a:endParaRPr>
          </a:p>
          <a:p>
            <a:pPr algn="l">
              <a:lnSpc>
                <a:spcPts val="3795"/>
              </a:lnSpc>
            </a:pPr>
            <a:r>
              <a:rPr lang="en-US" sz="2672" b="1">
                <a:solidFill>
                  <a:srgbClr val="F1F5EE">
                    <a:alpha val="97647"/>
                  </a:srgbClr>
                </a:solidFill>
                <a:latin typeface="DM Sans Bold"/>
                <a:ea typeface="DM Sans Bold"/>
                <a:cs typeface="DM Sans Bold"/>
                <a:sym typeface="DM Sans Bold"/>
              </a:rPr>
              <a:t>4. Operational &amp; Inventory Optimization:</a:t>
            </a:r>
          </a:p>
          <a:p>
            <a:pPr marL="577093" lvl="1" indent="-288546" algn="l">
              <a:lnSpc>
                <a:spcPts val="3795"/>
              </a:lnSpc>
              <a:buFont typeface="Arial"/>
              <a:buChar char="•"/>
            </a:pPr>
            <a:r>
              <a:rPr lang="en-US" sz="2672" b="1">
                <a:solidFill>
                  <a:srgbClr val="FFBD59">
                    <a:alpha val="97647"/>
                  </a:srgbClr>
                </a:solidFill>
                <a:latin typeface="DM Sans Bold"/>
                <a:ea typeface="DM Sans Bold"/>
                <a:cs typeface="DM Sans Bold"/>
                <a:sym typeface="DM Sans Bold"/>
              </a:rPr>
              <a:t>Optimize staffing during high traffic days</a:t>
            </a:r>
            <a:r>
              <a:rPr lang="en-US" sz="2672">
                <a:solidFill>
                  <a:srgbClr val="F1F5EE">
                    <a:alpha val="97647"/>
                  </a:srgbClr>
                </a:solidFill>
                <a:latin typeface="DM Sans"/>
                <a:ea typeface="DM Sans"/>
                <a:cs typeface="DM Sans"/>
                <a:sym typeface="DM Sans"/>
              </a:rPr>
              <a:t> (early and mid month) to improve service speed.</a:t>
            </a:r>
          </a:p>
          <a:p>
            <a:pPr marL="577093" lvl="1" indent="-288546" algn="l">
              <a:lnSpc>
                <a:spcPts val="3795"/>
              </a:lnSpc>
              <a:buFont typeface="Arial"/>
              <a:buChar char="•"/>
            </a:pPr>
            <a:r>
              <a:rPr lang="en-US" sz="2672" b="1">
                <a:solidFill>
                  <a:srgbClr val="FFBD59">
                    <a:alpha val="97647"/>
                  </a:srgbClr>
                </a:solidFill>
                <a:latin typeface="DM Sans Bold"/>
                <a:ea typeface="DM Sans Bold"/>
                <a:cs typeface="DM Sans Bold"/>
                <a:sym typeface="DM Sans Bold"/>
              </a:rPr>
              <a:t>Reduce waste by adjusting inventory levels</a:t>
            </a:r>
            <a:r>
              <a:rPr lang="en-US" sz="2672">
                <a:solidFill>
                  <a:srgbClr val="F1F5EE">
                    <a:alpha val="97647"/>
                  </a:srgbClr>
                </a:solidFill>
                <a:latin typeface="DM Sans"/>
                <a:ea typeface="DM Sans"/>
                <a:cs typeface="DM Sans"/>
                <a:sym typeface="DM Sans"/>
              </a:rPr>
              <a:t> during predictable low demand periods.</a:t>
            </a:r>
          </a:p>
          <a:p>
            <a:pPr algn="l">
              <a:lnSpc>
                <a:spcPts val="3795"/>
              </a:lnSpc>
            </a:pPr>
            <a:endParaRPr lang="en-US" sz="2672">
              <a:solidFill>
                <a:srgbClr val="F1F5EE">
                  <a:alpha val="97647"/>
                </a:srgbClr>
              </a:solidFill>
              <a:latin typeface="DM Sans"/>
              <a:ea typeface="DM Sans"/>
              <a:cs typeface="DM Sans"/>
              <a:sym typeface="DM Sans"/>
            </a:endParaRPr>
          </a:p>
          <a:p>
            <a:pPr algn="l">
              <a:lnSpc>
                <a:spcPts val="3795"/>
              </a:lnSpc>
            </a:pPr>
            <a:endParaRPr lang="en-US" sz="2672">
              <a:solidFill>
                <a:srgbClr val="F1F5EE">
                  <a:alpha val="97647"/>
                </a:srgbClr>
              </a:solidFill>
              <a:latin typeface="DM Sans"/>
              <a:ea typeface="DM Sans"/>
              <a:cs typeface="DM Sans"/>
              <a:sym typeface="DM Sans"/>
            </a:endParaRPr>
          </a:p>
          <a:p>
            <a:pPr algn="l">
              <a:lnSpc>
                <a:spcPts val="3795"/>
              </a:lnSpc>
            </a:pPr>
            <a:r>
              <a:rPr lang="en-US" sz="2672" b="1">
                <a:solidFill>
                  <a:srgbClr val="F1F5EE">
                    <a:alpha val="97647"/>
                  </a:srgbClr>
                </a:solidFill>
                <a:latin typeface="DM Sans Bold"/>
                <a:ea typeface="DM Sans Bold"/>
                <a:cs typeface="DM Sans Bold"/>
                <a:sym typeface="DM Sans Bold"/>
              </a:rPr>
              <a:t>5. Data-Driven Growth Opportunities:</a:t>
            </a:r>
          </a:p>
          <a:p>
            <a:pPr marL="577093" lvl="1" indent="-288546" algn="l">
              <a:lnSpc>
                <a:spcPts val="3795"/>
              </a:lnSpc>
              <a:buFont typeface="Arial"/>
              <a:buChar char="•"/>
            </a:pPr>
            <a:r>
              <a:rPr lang="en-US" sz="2672">
                <a:solidFill>
                  <a:srgbClr val="F1F5EE">
                    <a:alpha val="97647"/>
                  </a:srgbClr>
                </a:solidFill>
                <a:latin typeface="DM Sans"/>
                <a:ea typeface="DM Sans"/>
                <a:cs typeface="DM Sans"/>
                <a:sym typeface="DM Sans"/>
              </a:rPr>
              <a:t>Use top selling items to design </a:t>
            </a:r>
            <a:r>
              <a:rPr lang="en-US" sz="2672" b="1">
                <a:solidFill>
                  <a:srgbClr val="FFBD59">
                    <a:alpha val="97647"/>
                  </a:srgbClr>
                </a:solidFill>
                <a:latin typeface="DM Sans Bold"/>
                <a:ea typeface="DM Sans Bold"/>
                <a:cs typeface="DM Sans Bold"/>
                <a:sym typeface="DM Sans Bold"/>
              </a:rPr>
              <a:t>combo meals or loyalty rewards (coupons)</a:t>
            </a:r>
            <a:r>
              <a:rPr lang="en-US" sz="2672">
                <a:solidFill>
                  <a:srgbClr val="F1F5EE">
                    <a:alpha val="97647"/>
                  </a:srgbClr>
                </a:solidFill>
                <a:latin typeface="DM Sans"/>
                <a:ea typeface="DM Sans"/>
                <a:cs typeface="DM Sans"/>
                <a:sym typeface="DM Sans"/>
              </a:rPr>
              <a:t>.</a:t>
            </a:r>
          </a:p>
          <a:p>
            <a:pPr marL="0" lvl="0" indent="0" algn="l">
              <a:lnSpc>
                <a:spcPts val="3795"/>
              </a:lnSpc>
            </a:pPr>
            <a:endParaRPr lang="en-US" sz="2672">
              <a:solidFill>
                <a:srgbClr val="F1F5EE">
                  <a:alpha val="97647"/>
                </a:srgbClr>
              </a:solidFill>
              <a:latin typeface="DM Sans"/>
              <a:ea typeface="DM Sans"/>
              <a:cs typeface="DM Sans"/>
              <a:sym typeface="DM Sans"/>
            </a:endParaRPr>
          </a:p>
        </p:txBody>
      </p:sp>
      <p:sp>
        <p:nvSpPr>
          <p:cNvPr id="6" name="TextBox 6"/>
          <p:cNvSpPr txBox="1"/>
          <p:nvPr/>
        </p:nvSpPr>
        <p:spPr>
          <a:xfrm>
            <a:off x="204233" y="662935"/>
            <a:ext cx="6944760" cy="845830"/>
          </a:xfrm>
          <a:prstGeom prst="rect">
            <a:avLst/>
          </a:prstGeom>
        </p:spPr>
        <p:txBody>
          <a:bodyPr lIns="0" tIns="0" rIns="0" bIns="0" rtlCol="0" anchor="t">
            <a:spAutoFit/>
          </a:bodyPr>
          <a:lstStyle/>
          <a:p>
            <a:pPr marL="0" lvl="0" indent="0" algn="l">
              <a:lnSpc>
                <a:spcPts val="6300"/>
              </a:lnSpc>
            </a:pPr>
            <a:r>
              <a:rPr lang="en-US" sz="6300" spc="-189">
                <a:solidFill>
                  <a:srgbClr val="F1F5EE"/>
                </a:solidFill>
                <a:latin typeface="DM Sans"/>
                <a:ea typeface="DM Sans"/>
                <a:cs typeface="DM Sans"/>
                <a:sym typeface="DM Sans"/>
              </a:rPr>
              <a:t>Recommendations</a:t>
            </a:r>
          </a:p>
        </p:txBody>
      </p:sp>
      <p:sp>
        <p:nvSpPr>
          <p:cNvPr id="7" name="TextBox 7"/>
          <p:cNvSpPr txBox="1"/>
          <p:nvPr/>
        </p:nvSpPr>
        <p:spPr>
          <a:xfrm>
            <a:off x="17293398" y="9579915"/>
            <a:ext cx="276820" cy="361950"/>
          </a:xfrm>
          <a:prstGeom prst="rect">
            <a:avLst/>
          </a:prstGeom>
        </p:spPr>
        <p:txBody>
          <a:bodyPr lIns="0" tIns="0" rIns="0" bIns="0" rtlCol="0" anchor="t">
            <a:spAutoFit/>
          </a:bodyPr>
          <a:lstStyle/>
          <a:p>
            <a:pPr algn="ctr">
              <a:lnSpc>
                <a:spcPts val="2867"/>
              </a:lnSpc>
              <a:spcBef>
                <a:spcPct val="0"/>
              </a:spcBef>
            </a:pPr>
            <a:r>
              <a:rPr lang="en-US" sz="2389">
                <a:solidFill>
                  <a:srgbClr val="FEFFFF"/>
                </a:solidFill>
                <a:latin typeface="DM Sans"/>
                <a:ea typeface="DM Sans"/>
                <a:cs typeface="DM Sans"/>
                <a:sym typeface="DM Sans"/>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5EE"/>
        </a:solidFill>
        <a:effectLst/>
      </p:bgPr>
    </p:bg>
    <p:spTree>
      <p:nvGrpSpPr>
        <p:cNvPr id="1" name=""/>
        <p:cNvGrpSpPr/>
        <p:nvPr/>
      </p:nvGrpSpPr>
      <p:grpSpPr>
        <a:xfrm>
          <a:off x="0" y="0"/>
          <a:ext cx="0" cy="0"/>
          <a:chOff x="0" y="0"/>
          <a:chExt cx="0" cy="0"/>
        </a:xfrm>
      </p:grpSpPr>
      <p:sp>
        <p:nvSpPr>
          <p:cNvPr id="2" name="TextBox 2"/>
          <p:cNvSpPr txBox="1"/>
          <p:nvPr/>
        </p:nvSpPr>
        <p:spPr>
          <a:xfrm>
            <a:off x="666750" y="4194532"/>
            <a:ext cx="16954500" cy="1730374"/>
          </a:xfrm>
          <a:prstGeom prst="rect">
            <a:avLst/>
          </a:prstGeom>
        </p:spPr>
        <p:txBody>
          <a:bodyPr lIns="0" tIns="0" rIns="0" bIns="0" rtlCol="0" anchor="t">
            <a:spAutoFit/>
          </a:bodyPr>
          <a:lstStyle/>
          <a:p>
            <a:pPr marL="0" lvl="0" indent="0" algn="ctr">
              <a:lnSpc>
                <a:spcPts val="12999"/>
              </a:lnSpc>
            </a:pPr>
            <a:r>
              <a:rPr lang="en-US" sz="12999" spc="-389">
                <a:solidFill>
                  <a:srgbClr val="3A6A47"/>
                </a:solidFill>
                <a:latin typeface="DM Sans"/>
                <a:ea typeface="DM Sans"/>
                <a:cs typeface="DM Sans"/>
                <a:sym typeface="DM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1091</Words>
  <Application>Microsoft Office PowerPoint</Application>
  <PresentationFormat>Personnalisé</PresentationFormat>
  <Paragraphs>132</Paragraphs>
  <Slides>20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DM Sans Bold</vt:lpstr>
      <vt:lpstr>DM Sans</vt: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 Analytics Dashboard</dc:title>
  <dc:description>Présentation - Analytics Dashboard</dc:description>
  <cp:lastModifiedBy>safaebryar3@gmail.com</cp:lastModifiedBy>
  <cp:revision>2</cp:revision>
  <dcterms:created xsi:type="dcterms:W3CDTF">2006-08-16T00:00:00Z</dcterms:created>
  <dcterms:modified xsi:type="dcterms:W3CDTF">2026-02-05T14:02:56Z</dcterms:modified>
  <dc:identifier>DAG7PUvRTGQ</dc:identifier>
</cp:coreProperties>
</file>